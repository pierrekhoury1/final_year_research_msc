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Bracket width, µs (log scale, lower is better)</a:t>
            </a:r>
          </a:p>
        </c:rich>
      </c:tx>
      <c:layout/>
      <c:overlay val="0"/>
    </c:title>
    <c:autoTitleDeleted val="0"/>
    <c:plotArea>
      <c:layout/>
      <c:barChart>
        <c:barDir val="bar"/>
        <c:grouping val="clustered"/>
        <c:varyColors val="0"/>
        <c:ser>
          <c:idx val="0"/>
          <c:order val="0"/>
          <c:tx>
            <c:strRef>
              <c:f>Sheet1!$B$1</c:f>
              <c:strCache>
                <c:ptCount val="1"/>
                <c:pt idx="0">
                  <c:v>Median bracket (µs)</c:v>
                </c:pt>
              </c:strCache>
            </c:strRef>
          </c:tx>
          <c:spPr>
            <a:solidFill>
              <a:srgbClr val="2A9D8F"/>
            </a:solidFill>
            <a:effectLst/>
          </c:spPr>
          <c:invertIfNegative val="0"/>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Sheet1!$A$2:$A$6</c:f>
              <c:multiLvlStrCache>
                <c:ptCount val="5"/>
                <c:lvl>
                  <c:pt idx="0">
                    <c:v>v1 Python, idle</c:v>
                  </c:pt>
                  <c:pt idx="1">
                    <c:v>v1 Python, CPU load</c:v>
                  </c:pt>
                  <c:pt idx="2">
                    <c:v>v2 native, tight</c:v>
                  </c:pt>
                  <c:pt idx="3">
                    <c:v>v2 native, CPU load</c:v>
                  </c:pt>
                  <c:pt idx="4">
                    <c:v>v2 native, best 1%</c:v>
                  </c:pt>
                </c:lvl>
              </c:multiLvlStrCache>
            </c:multiLvlStrRef>
          </c:cat>
          <c:val>
            <c:numRef>
              <c:f>Sheet1!$B$2:$B$6</c:f>
              <c:numCache>
                <c:formatCode>General</c:formatCode>
                <c:ptCount val="5"/>
                <c:pt idx="0">
                  <c:v>840.1</c:v>
                </c:pt>
                <c:pt idx="1">
                  <c:v>232.7</c:v>
                </c:pt>
                <c:pt idx="2">
                  <c:v>28.2</c:v>
                </c:pt>
                <c:pt idx="3">
                  <c:v>55.6</c:v>
                </c:pt>
                <c:pt idx="4">
                  <c:v>1.16</c:v>
                </c:pt>
              </c:numCache>
            </c:numRef>
          </c:val>
        </c:ser>
        <c:dLbls>
          <c:numFmt formatCode="#,##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noMultiLvlLbl val="1"/>
      </c:catAx>
      <c:valAx>
        <c:axId val="2094734552"/>
        <c:scaling>
          <c:logBase val="10"/>
          <c:orientation val="minMax"/>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GPU/CPU rate per 10 s window, parts per billion</a:t>
            </a:r>
          </a:p>
        </c:rich>
      </c:tx>
      <c:layout/>
      <c:overlay val="0"/>
    </c:title>
    <c:autoTitleDeleted val="0"/>
    <c:plotArea>
      <c:layout/>
      <c:lineChart>
        <c:varyColors val="0"/>
        <c:ser>
          <c:idx val="0"/>
          <c:order val="0"/>
          <c:tx>
            <c:strRef>
              <c:f>Sheet1!$B$1</c:f>
              <c:strCache>
                <c:ptCount val="1"/>
                <c:pt idx="0">
                  <c:v>Default run</c:v>
                </c:pt>
              </c:strCache>
            </c:strRef>
          </c:tx>
          <c:spPr>
            <a:solidFill>
              <a:srgbClr val="2A9D8F"/>
            </a:solidFill>
            <a:ln w="25400" cap="flat">
              <a:solidFill>
                <a:srgbClr val="2A9D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A9D8F"/>
              </a:solidFill>
              <a:ln w="9525" cap="flat">
                <a:solidFill>
                  <a:srgbClr val="2A9D8F"/>
                </a:solidFill>
                <a:prstDash val="solid"/>
                <a:round/>
              </a:ln>
              <a:effectLst/>
            </c:spPr>
          </c:marker>
          <c:cat>
            <c:multiLvlStrRef>
              <c:f>Sheet1!$A$2:$A$25</c:f>
              <c:multiLvlStrCache>
                <c:ptCount val="24"/>
                <c:lvl>
                  <c:pt idx="0">
                    <c:v>0s</c:v>
                  </c:pt>
                  <c:pt idx="1">
                    <c:v>10s</c:v>
                  </c:pt>
                  <c:pt idx="2">
                    <c:v>20s</c:v>
                  </c:pt>
                  <c:pt idx="3">
                    <c:v>30s</c:v>
                  </c:pt>
                  <c:pt idx="4">
                    <c:v>40s</c:v>
                  </c:pt>
                  <c:pt idx="5">
                    <c:v>50s</c:v>
                  </c:pt>
                  <c:pt idx="6">
                    <c:v>90s</c:v>
                  </c:pt>
                  <c:pt idx="7">
                    <c:v>100s</c:v>
                  </c:pt>
                  <c:pt idx="8">
                    <c:v>110s</c:v>
                  </c:pt>
                  <c:pt idx="9">
                    <c:v>120s</c:v>
                  </c:pt>
                  <c:pt idx="10">
                    <c:v>130s</c:v>
                  </c:pt>
                  <c:pt idx="11">
                    <c:v>140s</c:v>
                  </c:pt>
                  <c:pt idx="12">
                    <c:v>150s</c:v>
                  </c:pt>
                  <c:pt idx="13">
                    <c:v>160s</c:v>
                  </c:pt>
                  <c:pt idx="14">
                    <c:v>170s</c:v>
                  </c:pt>
                  <c:pt idx="15">
                    <c:v>180s</c:v>
                  </c:pt>
                  <c:pt idx="16">
                    <c:v>190s</c:v>
                  </c:pt>
                  <c:pt idx="17">
                    <c:v>200s</c:v>
                  </c:pt>
                  <c:pt idx="18">
                    <c:v>210s</c:v>
                  </c:pt>
                  <c:pt idx="19">
                    <c:v>220s</c:v>
                  </c:pt>
                  <c:pt idx="20">
                    <c:v>230s</c:v>
                  </c:pt>
                  <c:pt idx="21">
                    <c:v>240s</c:v>
                  </c:pt>
                  <c:pt idx="22">
                    <c:v>250s</c:v>
                  </c:pt>
                  <c:pt idx="23">
                    <c:v>260s</c:v>
                  </c:pt>
                </c:lvl>
              </c:multiLvlStrCache>
            </c:multiLvlStrRef>
          </c:cat>
          <c:val>
            <c:numRef>
              <c:f>Sheet1!$B$2:$B$25</c:f>
              <c:numCache>
                <c:formatCode>General</c:formatCode>
                <c:ptCount val="24"/>
                <c:pt idx="0">
                  <c:v>-2.9</c:v>
                </c:pt>
                <c:pt idx="1">
                  <c:v>11.9</c:v>
                </c:pt>
                <c:pt idx="2">
                  <c:v>-9.6</c:v>
                </c:pt>
                <c:pt idx="3">
                  <c:v>10.2</c:v>
                </c:pt>
                <c:pt idx="4">
                  <c:v>-15.4</c:v>
                </c:pt>
                <c:pt idx="5">
                  <c:v>2.8</c:v>
                </c:pt>
                <c:pt idx="6">
                  <c:v>13.3</c:v>
                </c:pt>
                <c:pt idx="7">
                  <c:v>-12.2</c:v>
                </c:pt>
                <c:pt idx="8">
                  <c:v>0.8</c:v>
                </c:pt>
                <c:pt idx="9">
                  <c:v>8.5</c:v>
                </c:pt>
                <c:pt idx="10">
                  <c:v>21.2</c:v>
                </c:pt>
                <c:pt idx="11">
                  <c:v>4.7</c:v>
                </c:pt>
                <c:pt idx="12">
                  <c:v>-10.2</c:v>
                </c:pt>
                <c:pt idx="13">
                  <c:v>4.6</c:v>
                </c:pt>
                <c:pt idx="14">
                  <c:v>0.1</c:v>
                </c:pt>
                <c:pt idx="15">
                  <c:v>-1.5</c:v>
                </c:pt>
                <c:pt idx="16">
                  <c:v>10.8</c:v>
                </c:pt>
                <c:pt idx="17">
                  <c:v>-6.1</c:v>
                </c:pt>
                <c:pt idx="18">
                  <c:v>-7.8</c:v>
                </c:pt>
                <c:pt idx="19">
                  <c:v>3.9</c:v>
                </c:pt>
                <c:pt idx="20">
                  <c:v>-3.6</c:v>
                </c:pt>
                <c:pt idx="21">
                  <c:v>-0.4</c:v>
                </c:pt>
                <c:pt idx="22">
                  <c:v>7</c:v>
                </c:pt>
                <c:pt idx="23">
                  <c:v>-6.8</c:v>
                </c:pt>
              </c:numCache>
            </c:numRef>
          </c:val>
          <c:smooth val="0"/>
        </c:ser>
        <c:ser>
          <c:idx val="1"/>
          <c:order val="1"/>
          <c:tx>
            <c:strRef>
              <c:f>Sheet1!$C$1</c:f>
              <c:strCache>
                <c:ptCount val="1"/>
                <c:pt idx="0">
                  <c:v>Tuned run</c:v>
                </c:pt>
              </c:strCache>
            </c:strRef>
          </c:tx>
          <c:spPr>
            <a:solidFill>
              <a:srgbClr val="F2A93B"/>
            </a:solidFill>
            <a:ln w="25400" cap="flat">
              <a:solidFill>
                <a:srgbClr val="F2A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2A93B"/>
              </a:solidFill>
              <a:ln w="9525" cap="flat">
                <a:solidFill>
                  <a:srgbClr val="F2A93B"/>
                </a:solidFill>
                <a:prstDash val="solid"/>
                <a:round/>
              </a:ln>
              <a:effectLst/>
            </c:spPr>
          </c:marker>
          <c:cat>
            <c:multiLvlStrRef>
              <c:f>Sheet1!$A$2:$A$25</c:f>
              <c:multiLvlStrCache>
                <c:ptCount val="24"/>
                <c:lvl>
                  <c:pt idx="0">
                    <c:v>0s</c:v>
                  </c:pt>
                  <c:pt idx="1">
                    <c:v>10s</c:v>
                  </c:pt>
                  <c:pt idx="2">
                    <c:v>20s</c:v>
                  </c:pt>
                  <c:pt idx="3">
                    <c:v>30s</c:v>
                  </c:pt>
                  <c:pt idx="4">
                    <c:v>40s</c:v>
                  </c:pt>
                  <c:pt idx="5">
                    <c:v>50s</c:v>
                  </c:pt>
                  <c:pt idx="6">
                    <c:v>90s</c:v>
                  </c:pt>
                  <c:pt idx="7">
                    <c:v>100s</c:v>
                  </c:pt>
                  <c:pt idx="8">
                    <c:v>110s</c:v>
                  </c:pt>
                  <c:pt idx="9">
                    <c:v>120s</c:v>
                  </c:pt>
                  <c:pt idx="10">
                    <c:v>130s</c:v>
                  </c:pt>
                  <c:pt idx="11">
                    <c:v>140s</c:v>
                  </c:pt>
                  <c:pt idx="12">
                    <c:v>150s</c:v>
                  </c:pt>
                  <c:pt idx="13">
                    <c:v>160s</c:v>
                  </c:pt>
                  <c:pt idx="14">
                    <c:v>170s</c:v>
                  </c:pt>
                  <c:pt idx="15">
                    <c:v>180s</c:v>
                  </c:pt>
                  <c:pt idx="16">
                    <c:v>190s</c:v>
                  </c:pt>
                  <c:pt idx="17">
                    <c:v>200s</c:v>
                  </c:pt>
                  <c:pt idx="18">
                    <c:v>210s</c:v>
                  </c:pt>
                  <c:pt idx="19">
                    <c:v>220s</c:v>
                  </c:pt>
                  <c:pt idx="20">
                    <c:v>230s</c:v>
                  </c:pt>
                  <c:pt idx="21">
                    <c:v>240s</c:v>
                  </c:pt>
                  <c:pt idx="22">
                    <c:v>250s</c:v>
                  </c:pt>
                  <c:pt idx="23">
                    <c:v>260s</c:v>
                  </c:pt>
                </c:lvl>
              </c:multiLvlStrCache>
            </c:multiLvlStrRef>
          </c:cat>
          <c:val>
            <c:numRef>
              <c:f>Sheet1!$C$2:$C$25</c:f>
              <c:numCache>
                <c:formatCode>General</c:formatCode>
                <c:ptCount val="24"/>
                <c:pt idx="0">
                  <c:v>-4.2</c:v>
                </c:pt>
                <c:pt idx="1">
                  <c:v>4</c:v>
                </c:pt>
                <c:pt idx="2">
                  <c:v>5.2</c:v>
                </c:pt>
                <c:pt idx="3">
                  <c:v>-6.9</c:v>
                </c:pt>
                <c:pt idx="4">
                  <c:v>3.3</c:v>
                </c:pt>
                <c:pt idx="5">
                  <c:v>1.9</c:v>
                </c:pt>
                <c:pt idx="6">
                  <c:v>9.9</c:v>
                </c:pt>
                <c:pt idx="7">
                  <c:v>-3.2</c:v>
                </c:pt>
                <c:pt idx="8">
                  <c:v>2.6</c:v>
                </c:pt>
                <c:pt idx="9">
                  <c:v>1.2</c:v>
                </c:pt>
                <c:pt idx="10">
                  <c:v>-4.6</c:v>
                </c:pt>
                <c:pt idx="11">
                  <c:v>2.1</c:v>
                </c:pt>
                <c:pt idx="12">
                  <c:v>-12</c:v>
                </c:pt>
                <c:pt idx="13">
                  <c:v>7.7</c:v>
                </c:pt>
                <c:pt idx="14">
                  <c:v>-9.2</c:v>
                </c:pt>
                <c:pt idx="15">
                  <c:v>-1.5</c:v>
                </c:pt>
                <c:pt idx="16">
                  <c:v>22</c:v>
                </c:pt>
                <c:pt idx="17">
                  <c:v>0.3</c:v>
                </c:pt>
                <c:pt idx="18">
                  <c:v>-2.4</c:v>
                </c:pt>
                <c:pt idx="19">
                  <c:v>-10.7</c:v>
                </c:pt>
                <c:pt idx="20">
                  <c:v>5.6</c:v>
                </c:pt>
                <c:pt idx="21">
                  <c:v>4.4</c:v>
                </c:pt>
                <c:pt idx="22">
                  <c:v>-1.7</c:v>
                </c:pt>
                <c:pt idx="23">
                  <c:v>11.1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noMultiLvlLbl val="1"/>
        <c:tickLblSkip val="3"/>
      </c:catAx>
      <c:valAx>
        <c:axId val="2094734552"/>
        <c:scaling>
          <c:orientation val="minMax"/>
          <c:max val="100"/>
          <c:min val="-10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Median bracket, µs (log)</a:t>
            </a:r>
          </a:p>
        </c:rich>
      </c:tx>
      <c:layout/>
      <c:overlay val="0"/>
    </c:title>
    <c:autoTitleDeleted val="0"/>
    <c:plotArea>
      <c:layout/>
      <c:barChart>
        <c:barDir val="col"/>
        <c:grouping val="clustered"/>
        <c:varyColors val="0"/>
        <c:ser>
          <c:idx val="0"/>
          <c:order val="0"/>
          <c:tx>
            <c:strRef>
              <c:f>Sheet1!$B$1</c:f>
              <c:strCache>
                <c:ptCount val="1"/>
                <c:pt idx="0">
                  <c:v>Default (core 0, normal priority)</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Tight loop</c:v>
                  </c:pt>
                  <c:pt idx="1">
                    <c:v>Sleepy (~16 ms gaps)</c:v>
                  </c:pt>
                  <c:pt idx="2">
                    <c:v>CPU load</c:v>
                  </c:pt>
                  <c:pt idx="3">
                    <c:v>GPU load</c:v>
                  </c:pt>
                  <c:pt idx="4">
                    <c:v>Tight loop (again)</c:v>
                  </c:pt>
                </c:lvl>
              </c:multiLvlStrCache>
            </c:multiLvlStrRef>
          </c:cat>
          <c:val>
            <c:numRef>
              <c:f>Sheet1!$B$2:$B$6</c:f>
              <c:numCache>
                <c:formatCode>General</c:formatCode>
                <c:ptCount val="5"/>
                <c:pt idx="0">
                  <c:v>28.2</c:v>
                </c:pt>
                <c:pt idx="1">
                  <c:v>9547.4</c:v>
                </c:pt>
                <c:pt idx="2">
                  <c:v>55.6</c:v>
                </c:pt>
                <c:pt idx="3">
                  <c:v>197.6</c:v>
                </c:pt>
                <c:pt idx="4">
                  <c:v>17.8</c:v>
                </c:pt>
              </c:numCache>
            </c:numRef>
          </c:val>
        </c:ser>
        <c:ser>
          <c:idx val="1"/>
          <c:order val="1"/>
          <c:tx>
            <c:strRef>
              <c:f>Sheet1!$C$1</c:f>
              <c:strCache>
                <c:ptCount val="1"/>
                <c:pt idx="0">
                  <c:v>Tuned (core 5, time-critical)</c:v>
                </c:pt>
              </c:strCache>
            </c:strRef>
          </c:tx>
          <c:spPr>
            <a:solidFill>
              <a:srgbClr val="F2A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Tight loop</c:v>
                  </c:pt>
                  <c:pt idx="1">
                    <c:v>Sleepy (~16 ms gaps)</c:v>
                  </c:pt>
                  <c:pt idx="2">
                    <c:v>CPU load</c:v>
                  </c:pt>
                  <c:pt idx="3">
                    <c:v>GPU load</c:v>
                  </c:pt>
                  <c:pt idx="4">
                    <c:v>Tight loop (again)</c:v>
                  </c:pt>
                </c:lvl>
              </c:multiLvlStrCache>
            </c:multiLvlStrRef>
          </c:cat>
          <c:val>
            <c:numRef>
              <c:f>Sheet1!$C$2:$C$6</c:f>
              <c:numCache>
                <c:formatCode>General</c:formatCode>
                <c:ptCount val="5"/>
                <c:pt idx="0">
                  <c:v>16.3</c:v>
                </c:pt>
                <c:pt idx="1">
                  <c:v>8334.3</c:v>
                </c:pt>
                <c:pt idx="2">
                  <c:v>19.6</c:v>
                </c:pt>
                <c:pt idx="3">
                  <c:v>197.7</c:v>
                </c:pt>
                <c:pt idx="4">
                  <c:v>18.9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2"/>
        <c:crosses val="autoZero"/>
        <c:auto val="1"/>
        <c:lblAlgn val="ctr"/>
        <c:noMultiLvlLbl val="1"/>
      </c:catAx>
      <c:valAx>
        <c:axId val="2094734552"/>
        <c:scaling>
          <c:logBase val="10"/>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99th percentile bracket, µs (log)</a:t>
            </a:r>
          </a:p>
        </c:rich>
      </c:tx>
      <c:layout/>
      <c:overlay val="0"/>
    </c:title>
    <c:autoTitleDeleted val="0"/>
    <c:plotArea>
      <c:layout/>
      <c:barChart>
        <c:barDir val="col"/>
        <c:grouping val="clustered"/>
        <c:varyColors val="0"/>
        <c:ser>
          <c:idx val="0"/>
          <c:order val="0"/>
          <c:tx>
            <c:strRef>
              <c:f>Sheet1!$B$1</c:f>
              <c:strCache>
                <c:ptCount val="1"/>
                <c:pt idx="0">
                  <c:v>Default (core 0, normal priority)</c:v>
                </c:pt>
              </c:strCache>
            </c:strRef>
          </c:tx>
          <c:spPr>
            <a:solidFill>
              <a:srgbClr val="2A9D8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Tight loop</c:v>
                  </c:pt>
                  <c:pt idx="1">
                    <c:v>Sleepy (~16 ms gaps)</c:v>
                  </c:pt>
                  <c:pt idx="2">
                    <c:v>CPU load</c:v>
                  </c:pt>
                  <c:pt idx="3">
                    <c:v>GPU load</c:v>
                  </c:pt>
                  <c:pt idx="4">
                    <c:v>Tight loop (again)</c:v>
                  </c:pt>
                </c:lvl>
              </c:multiLvlStrCache>
            </c:multiLvlStrRef>
          </c:cat>
          <c:val>
            <c:numRef>
              <c:f>Sheet1!$B$2:$B$6</c:f>
              <c:numCache>
                <c:formatCode>General</c:formatCode>
                <c:ptCount val="5"/>
                <c:pt idx="0">
                  <c:v>14437.8</c:v>
                </c:pt>
                <c:pt idx="1">
                  <c:v>29353.9</c:v>
                </c:pt>
                <c:pt idx="2">
                  <c:v>29930.3</c:v>
                </c:pt>
                <c:pt idx="3">
                  <c:v>3431.9</c:v>
                </c:pt>
                <c:pt idx="4">
                  <c:v>21543.1</c:v>
                </c:pt>
              </c:numCache>
            </c:numRef>
          </c:val>
        </c:ser>
        <c:ser>
          <c:idx val="1"/>
          <c:order val="1"/>
          <c:tx>
            <c:strRef>
              <c:f>Sheet1!$C$1</c:f>
              <c:strCache>
                <c:ptCount val="1"/>
                <c:pt idx="0">
                  <c:v>Tuned (core 5, time-critical)</c:v>
                </c:pt>
              </c:strCache>
            </c:strRef>
          </c:tx>
          <c:spPr>
            <a:solidFill>
              <a:srgbClr val="F2A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Tight loop</c:v>
                  </c:pt>
                  <c:pt idx="1">
                    <c:v>Sleepy (~16 ms gaps)</c:v>
                  </c:pt>
                  <c:pt idx="2">
                    <c:v>CPU load</c:v>
                  </c:pt>
                  <c:pt idx="3">
                    <c:v>GPU load</c:v>
                  </c:pt>
                  <c:pt idx="4">
                    <c:v>Tight loop (again)</c:v>
                  </c:pt>
                </c:lvl>
              </c:multiLvlStrCache>
            </c:multiLvlStrRef>
          </c:cat>
          <c:val>
            <c:numRef>
              <c:f>Sheet1!$C$2:$C$6</c:f>
              <c:numCache>
                <c:formatCode>General</c:formatCode>
                <c:ptCount val="5"/>
                <c:pt idx="0">
                  <c:v>19888.5</c:v>
                </c:pt>
                <c:pt idx="1">
                  <c:v>28929.1</c:v>
                </c:pt>
                <c:pt idx="2">
                  <c:v>18753.4</c:v>
                </c:pt>
                <c:pt idx="3">
                  <c:v>3169.8</c:v>
                </c:pt>
                <c:pt idx="4">
                  <c:v>25532.9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2"/>
        <c:crosses val="autoZero"/>
        <c:auto val="1"/>
        <c:lblAlgn val="ctr"/>
        <c:noMultiLvlLbl val="1"/>
      </c:catAx>
      <c:valAx>
        <c:axId val="2094734552"/>
        <c:scaling>
          <c:logBase val="10"/>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Share of excess time in brackets &gt; 20 µs (default run), %</a:t>
            </a:r>
          </a:p>
        </c:rich>
      </c:tx>
      <c:layout/>
      <c:overlay val="0"/>
    </c:title>
    <c:autoTitleDeleted val="0"/>
    <c:plotArea>
      <c:layout/>
      <c:barChart>
        <c:barDir val="bar"/>
        <c:grouping val="stacked"/>
        <c:varyColors val="0"/>
        <c:ser>
          <c:idx val="0"/>
          <c:order val="0"/>
          <c:tx>
            <c:strRef>
              <c:f>Sheet1!$B$1</c:f>
              <c:strCache>
                <c:ptCount val="1"/>
                <c:pt idx="0">
                  <c:v>Before GPU read (GPU slow to notice)</c:v>
                </c:pt>
              </c:strCache>
            </c:strRef>
          </c:tx>
          <c:spPr>
            <a:solidFill>
              <a:srgbClr val="F2A93B"/>
            </a:solidFill>
            <a:effectLst/>
          </c:spPr>
          <c:invertIfNegative val="0"/>
          <c:dLbls>
            <c:numFmt formatCode="#,##0" sourceLinked="0"/>
            <c:txPr>
              <a:bodyPr/>
              <a:lstStyle/>
              <a:p>
                <a:pPr>
                  <a:defRPr b="0" i="0" strike="noStrike" sz="1000" u="none">
                    <a:solidFill>
                      <a:srgbClr val="0E1A2B"/>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Tight loop</c:v>
                  </c:pt>
                  <c:pt idx="1">
                    <c:v>Sleepy (~16 ms gaps)</c:v>
                  </c:pt>
                  <c:pt idx="2">
                    <c:v>CPU load</c:v>
                  </c:pt>
                  <c:pt idx="3">
                    <c:v>GPU load</c:v>
                  </c:pt>
                  <c:pt idx="4">
                    <c:v>Tight loop (again)</c:v>
                  </c:pt>
                </c:lvl>
              </c:multiLvlStrCache>
            </c:multiLvlStrRef>
          </c:cat>
          <c:val>
            <c:numRef>
              <c:f>Sheet1!$B$2:$B$6</c:f>
              <c:numCache>
                <c:formatCode>General</c:formatCode>
                <c:ptCount val="5"/>
                <c:pt idx="0">
                  <c:v>12</c:v>
                </c:pt>
                <c:pt idx="1">
                  <c:v>99</c:v>
                </c:pt>
                <c:pt idx="2">
                  <c:v>5</c:v>
                </c:pt>
                <c:pt idx="3">
                  <c:v>20</c:v>
                </c:pt>
                <c:pt idx="4">
                  <c:v>2</c:v>
                </c:pt>
              </c:numCache>
            </c:numRef>
          </c:val>
        </c:ser>
        <c:ser>
          <c:idx val="1"/>
          <c:order val="1"/>
          <c:tx>
            <c:strRef>
              <c:f>Sheet1!$C$1</c:f>
              <c:strCache>
                <c:ptCount val="1"/>
                <c:pt idx="0">
                  <c:v>After GPU read (reply slow to reach CPU)</c:v>
                </c:pt>
              </c:strCache>
            </c:strRef>
          </c:tx>
          <c:spPr>
            <a:solidFill>
              <a:srgbClr val="2A9D8F"/>
            </a:solidFill>
            <a:effectLst/>
          </c:spPr>
          <c:invertIfNegative val="0"/>
          <c:dLbls>
            <c:numFmt formatCode="#,##0" sourceLinked="0"/>
            <c:txPr>
              <a:bodyPr/>
              <a:lstStyle/>
              <a:p>
                <a:pPr>
                  <a:defRPr b="0" i="0" strike="noStrike" sz="1000" u="none">
                    <a:solidFill>
                      <a:srgbClr val="0E1A2B"/>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Tight loop</c:v>
                  </c:pt>
                  <c:pt idx="1">
                    <c:v>Sleepy (~16 ms gaps)</c:v>
                  </c:pt>
                  <c:pt idx="2">
                    <c:v>CPU load</c:v>
                  </c:pt>
                  <c:pt idx="3">
                    <c:v>GPU load</c:v>
                  </c:pt>
                  <c:pt idx="4">
                    <c:v>Tight loop (again)</c:v>
                  </c:pt>
                </c:lvl>
              </c:multiLvlStrCache>
            </c:multiLvlStrRef>
          </c:cat>
          <c:val>
            <c:numRef>
              <c:f>Sheet1!$C$2:$C$6</c:f>
              <c:numCache>
                <c:formatCode>General</c:formatCode>
                <c:ptCount val="5"/>
                <c:pt idx="0">
                  <c:v>88</c:v>
                </c:pt>
                <c:pt idx="1">
                  <c:v>1</c:v>
                </c:pt>
                <c:pt idx="2">
                  <c:v>95</c:v>
                </c:pt>
                <c:pt idx="3">
                  <c:v>80</c:v>
                </c:pt>
                <c:pt idx="4">
                  <c:v>98</c:v>
                </c:pt>
              </c:numCache>
            </c:numRef>
          </c:val>
        </c:ser>
        <c:dLbls>
          <c:numFmt formatCode="#,##0" sourceLinked="0"/>
          <c:txPr>
            <a:bodyPr/>
            <a:lstStyle/>
            <a:p>
              <a:pPr>
                <a:defRPr b="0" i="0" strike="noStrike" sz="1000" u="none">
                  <a:solidFill>
                    <a:srgbClr val="0E1A2B"/>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experiment run on my own laptop before committing to hardware. Everything in the deck comes from measured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is the glue of 5G. If AI workloads share the GPU with the radio stack, the GPU's notion of time has to be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Persistent GPU kernel and CPU thread ping-pong through fine-grained shared memory. No kernel launch inside the loop. GPU clock read via the RDNA 3.5 s_sendmsg_rtn GET_REALTIME message (the AMD equivalent of NVIDIA's %globaltimer).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Python launches one kernel per sample and waits, so launch and wake-up overhead swamp everything. v2: a persistent GPU kernel spins on shared memory, compiled C host loop timed with the TSC.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GPU clock runs at 99.81 MHz, not the 100 MHz you'd assume; assuming 100 MHz would be ~1.9 ms wrong per second. But its ratio to the CPU TSC is exactly 20 (within 0.0006 ppm). On an APU both derive from one reference, so relative drift is zero and only latency and offset matter. A discrete NVIDIA card has its own crystal, so there drift is real. That is where the OCXO reference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Tight loop: default p50 28 µs, p99 14.4 ms; tuned p50 16 µs, p99 19.9 ms
Sleepy (~16 ms gaps): default p50 9.5 ms, p99 29.4 ms; tuned p50 8.3 ms, p99 28.9 ms
CPU load: default p50 56 µs, p99 29.9 ms; tuned p50 20 µs, p99 18.8 ms
GPU load: default p50 198 µs, p99 3.4 ms; tuned p50 198 µs, p99 3.2 ms
Tight loop (again): default p50 18 µs, p99 21.5 ms; tuned p50 19 µs, p99 25.5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fitted clock mapping, each slow bracket can be split into time before the GPU read and time after it. This separates 'GPU was not running our code' from 'CPU was not running our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20040"/>
          </a:xfrm>
          <a:prstGeom prst="rect">
            <a:avLst/>
          </a:prstGeom>
          <a:noFill/>
          <a:ln/>
        </p:spPr>
        <p:txBody>
          <a:bodyPr wrap="square" lIns="0" tIns="0" rIns="0" bIns="0" rtlCol="0" anchor="ctr"/>
          <a:lstStyle/>
          <a:p>
            <a:pPr indent="0" marL="0">
              <a:buNone/>
            </a:pPr>
            <a:r>
              <a:rPr lang="en-US" sz="1300" dirty="0">
                <a:solidFill>
                  <a:srgbClr val="F2A93B"/>
                </a:solidFill>
                <a:latin typeface="Calibri" pitchFamily="34" charset="0"/>
                <a:ea typeface="Calibri" pitchFamily="34" charset="-122"/>
                <a:cs typeface="Calibri" pitchFamily="34" charset="-120"/>
              </a:rPr>
              <a:t>MSc Advanced Computing · project feasibility · 28 Sep 2026</a:t>
            </a:r>
            <a:endParaRPr lang="en-US" sz="1300" dirty="0"/>
          </a:p>
        </p:txBody>
      </p:sp>
      <p:sp>
        <p:nvSpPr>
          <p:cNvPr id="3" name="Text 1"/>
          <p:cNvSpPr txBox="1"/>
          <p:nvPr/>
        </p:nvSpPr>
        <p:spPr>
          <a:xfrm>
            <a:off x="548640" y="1188720"/>
            <a:ext cx="8046720"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Does the GPU know what time it is?</a:t>
            </a:r>
            <a:endParaRPr lang="en-US" sz="4400" dirty="0"/>
          </a:p>
        </p:txBody>
      </p:sp>
      <p:sp>
        <p:nvSpPr>
          <p:cNvPr id="4" name="Text 2"/>
          <p:cNvSpPr txBox="1"/>
          <p:nvPr/>
        </p:nvSpPr>
        <p:spPr>
          <a:xfrm>
            <a:off x="548640" y="2560320"/>
            <a:ext cx="7315200" cy="822960"/>
          </a:xfrm>
          <a:prstGeom prst="rect">
            <a:avLst/>
          </a:prstGeom>
          <a:noFill/>
          <a:ln/>
        </p:spPr>
        <p:txBody>
          <a:bodyPr wrap="square" lIns="0" tIns="0" rIns="0" bIns="0" rtlCol="0" anchor="ctr"/>
          <a:lstStyle/>
          <a:p>
            <a:pPr indent="0" marL="0">
              <a:buNone/>
            </a:pPr>
            <a:r>
              <a:rPr lang="en-US" sz="1800" dirty="0">
                <a:solidFill>
                  <a:srgbClr val="C9D6EA"/>
                </a:solidFill>
                <a:latin typeface="Calibri" pitchFamily="34" charset="0"/>
                <a:ea typeface="Calibri" pitchFamily="34" charset="-122"/>
                <a:cs typeface="Calibri" pitchFamily="34" charset="-120"/>
              </a:rPr>
              <a:t>Measuring CPU–GPU clock alignment on a laptop, and why the answer points to an OCXO time reference</a:t>
            </a:r>
            <a:endParaRPr lang="en-US" sz="1800" dirty="0"/>
          </a:p>
        </p:txBody>
      </p:sp>
      <p:sp>
        <p:nvSpPr>
          <p:cNvPr id="5" name="Shape 3"/>
          <p:cNvSpPr/>
          <p:nvPr/>
        </p:nvSpPr>
        <p:spPr>
          <a:xfrm>
            <a:off x="548640" y="3977640"/>
            <a:ext cx="0" cy="411480"/>
          </a:xfrm>
          <a:prstGeom prst="line">
            <a:avLst/>
          </a:prstGeom>
          <a:noFill/>
          <a:ln w="31750">
            <a:solidFill>
              <a:srgbClr val="F2A93B"/>
            </a:solidFill>
            <a:prstDash val="solid"/>
          </a:ln>
        </p:spPr>
      </p:sp>
      <p:sp>
        <p:nvSpPr>
          <p:cNvPr id="6" name="Shape 4"/>
          <p:cNvSpPr/>
          <p:nvPr/>
        </p:nvSpPr>
        <p:spPr>
          <a:xfrm>
            <a:off x="886968" y="4114800"/>
            <a:ext cx="0" cy="274320"/>
          </a:xfrm>
          <a:prstGeom prst="line">
            <a:avLst/>
          </a:prstGeom>
          <a:noFill/>
          <a:ln w="19050">
            <a:solidFill>
              <a:srgbClr val="3B4F6E"/>
            </a:solidFill>
            <a:prstDash val="solid"/>
          </a:ln>
        </p:spPr>
      </p:sp>
      <p:sp>
        <p:nvSpPr>
          <p:cNvPr id="7" name="Shape 5"/>
          <p:cNvSpPr/>
          <p:nvPr/>
        </p:nvSpPr>
        <p:spPr>
          <a:xfrm>
            <a:off x="1225296" y="4114800"/>
            <a:ext cx="0" cy="274320"/>
          </a:xfrm>
          <a:prstGeom prst="line">
            <a:avLst/>
          </a:prstGeom>
          <a:noFill/>
          <a:ln w="19050">
            <a:solidFill>
              <a:srgbClr val="3B4F6E"/>
            </a:solidFill>
            <a:prstDash val="solid"/>
          </a:ln>
        </p:spPr>
      </p:sp>
      <p:sp>
        <p:nvSpPr>
          <p:cNvPr id="8" name="Shape 6"/>
          <p:cNvSpPr/>
          <p:nvPr/>
        </p:nvSpPr>
        <p:spPr>
          <a:xfrm>
            <a:off x="1563624" y="4114800"/>
            <a:ext cx="0" cy="274320"/>
          </a:xfrm>
          <a:prstGeom prst="line">
            <a:avLst/>
          </a:prstGeom>
          <a:noFill/>
          <a:ln w="19050">
            <a:solidFill>
              <a:srgbClr val="3B4F6E"/>
            </a:solidFill>
            <a:prstDash val="solid"/>
          </a:ln>
        </p:spPr>
      </p:sp>
      <p:sp>
        <p:nvSpPr>
          <p:cNvPr id="9" name="Shape 7"/>
          <p:cNvSpPr/>
          <p:nvPr/>
        </p:nvSpPr>
        <p:spPr>
          <a:xfrm>
            <a:off x="1901952" y="4114800"/>
            <a:ext cx="0" cy="274320"/>
          </a:xfrm>
          <a:prstGeom prst="line">
            <a:avLst/>
          </a:prstGeom>
          <a:noFill/>
          <a:ln w="19050">
            <a:solidFill>
              <a:srgbClr val="3B4F6E"/>
            </a:solidFill>
            <a:prstDash val="solid"/>
          </a:ln>
        </p:spPr>
      </p:sp>
      <p:sp>
        <p:nvSpPr>
          <p:cNvPr id="10" name="Shape 8"/>
          <p:cNvSpPr/>
          <p:nvPr/>
        </p:nvSpPr>
        <p:spPr>
          <a:xfrm>
            <a:off x="2240280" y="4114800"/>
            <a:ext cx="0" cy="274320"/>
          </a:xfrm>
          <a:prstGeom prst="line">
            <a:avLst/>
          </a:prstGeom>
          <a:noFill/>
          <a:ln w="19050">
            <a:solidFill>
              <a:srgbClr val="3B4F6E"/>
            </a:solidFill>
            <a:prstDash val="solid"/>
          </a:ln>
        </p:spPr>
      </p:sp>
      <p:sp>
        <p:nvSpPr>
          <p:cNvPr id="11" name="Shape 9"/>
          <p:cNvSpPr/>
          <p:nvPr/>
        </p:nvSpPr>
        <p:spPr>
          <a:xfrm>
            <a:off x="2578608" y="3977640"/>
            <a:ext cx="0" cy="411480"/>
          </a:xfrm>
          <a:prstGeom prst="line">
            <a:avLst/>
          </a:prstGeom>
          <a:noFill/>
          <a:ln w="31750">
            <a:solidFill>
              <a:srgbClr val="F2A93B"/>
            </a:solidFill>
            <a:prstDash val="solid"/>
          </a:ln>
        </p:spPr>
      </p:sp>
      <p:sp>
        <p:nvSpPr>
          <p:cNvPr id="12" name="Shape 10"/>
          <p:cNvSpPr/>
          <p:nvPr/>
        </p:nvSpPr>
        <p:spPr>
          <a:xfrm>
            <a:off x="2916936" y="4114800"/>
            <a:ext cx="0" cy="274320"/>
          </a:xfrm>
          <a:prstGeom prst="line">
            <a:avLst/>
          </a:prstGeom>
          <a:noFill/>
          <a:ln w="19050">
            <a:solidFill>
              <a:srgbClr val="3B4F6E"/>
            </a:solidFill>
            <a:prstDash val="solid"/>
          </a:ln>
        </p:spPr>
      </p:sp>
      <p:sp>
        <p:nvSpPr>
          <p:cNvPr id="13" name="Shape 11"/>
          <p:cNvSpPr/>
          <p:nvPr/>
        </p:nvSpPr>
        <p:spPr>
          <a:xfrm>
            <a:off x="3255264" y="4114800"/>
            <a:ext cx="0" cy="274320"/>
          </a:xfrm>
          <a:prstGeom prst="line">
            <a:avLst/>
          </a:prstGeom>
          <a:noFill/>
          <a:ln w="19050">
            <a:solidFill>
              <a:srgbClr val="3B4F6E"/>
            </a:solidFill>
            <a:prstDash val="solid"/>
          </a:ln>
        </p:spPr>
      </p:sp>
      <p:sp>
        <p:nvSpPr>
          <p:cNvPr id="14" name="Shape 12"/>
          <p:cNvSpPr/>
          <p:nvPr/>
        </p:nvSpPr>
        <p:spPr>
          <a:xfrm>
            <a:off x="3593592" y="4114800"/>
            <a:ext cx="0" cy="274320"/>
          </a:xfrm>
          <a:prstGeom prst="line">
            <a:avLst/>
          </a:prstGeom>
          <a:noFill/>
          <a:ln w="19050">
            <a:solidFill>
              <a:srgbClr val="3B4F6E"/>
            </a:solidFill>
            <a:prstDash val="solid"/>
          </a:ln>
        </p:spPr>
      </p:sp>
      <p:sp>
        <p:nvSpPr>
          <p:cNvPr id="15" name="Shape 13"/>
          <p:cNvSpPr/>
          <p:nvPr/>
        </p:nvSpPr>
        <p:spPr>
          <a:xfrm>
            <a:off x="3931920" y="4114800"/>
            <a:ext cx="0" cy="274320"/>
          </a:xfrm>
          <a:prstGeom prst="line">
            <a:avLst/>
          </a:prstGeom>
          <a:noFill/>
          <a:ln w="19050">
            <a:solidFill>
              <a:srgbClr val="3B4F6E"/>
            </a:solidFill>
            <a:prstDash val="solid"/>
          </a:ln>
        </p:spPr>
      </p:sp>
      <p:sp>
        <p:nvSpPr>
          <p:cNvPr id="16" name="Shape 14"/>
          <p:cNvSpPr/>
          <p:nvPr/>
        </p:nvSpPr>
        <p:spPr>
          <a:xfrm>
            <a:off x="4270248" y="4114800"/>
            <a:ext cx="0" cy="274320"/>
          </a:xfrm>
          <a:prstGeom prst="line">
            <a:avLst/>
          </a:prstGeom>
          <a:noFill/>
          <a:ln w="19050">
            <a:solidFill>
              <a:srgbClr val="3B4F6E"/>
            </a:solidFill>
            <a:prstDash val="solid"/>
          </a:ln>
        </p:spPr>
      </p:sp>
      <p:sp>
        <p:nvSpPr>
          <p:cNvPr id="17" name="Shape 15"/>
          <p:cNvSpPr/>
          <p:nvPr/>
        </p:nvSpPr>
        <p:spPr>
          <a:xfrm>
            <a:off x="4608576" y="3977640"/>
            <a:ext cx="0" cy="411480"/>
          </a:xfrm>
          <a:prstGeom prst="line">
            <a:avLst/>
          </a:prstGeom>
          <a:noFill/>
          <a:ln w="31750">
            <a:solidFill>
              <a:srgbClr val="F2A93B"/>
            </a:solidFill>
            <a:prstDash val="solid"/>
          </a:ln>
        </p:spPr>
      </p:sp>
      <p:sp>
        <p:nvSpPr>
          <p:cNvPr id="18" name="Shape 16"/>
          <p:cNvSpPr/>
          <p:nvPr/>
        </p:nvSpPr>
        <p:spPr>
          <a:xfrm>
            <a:off x="4946904" y="4114800"/>
            <a:ext cx="0" cy="274320"/>
          </a:xfrm>
          <a:prstGeom prst="line">
            <a:avLst/>
          </a:prstGeom>
          <a:noFill/>
          <a:ln w="19050">
            <a:solidFill>
              <a:srgbClr val="3B4F6E"/>
            </a:solidFill>
            <a:prstDash val="solid"/>
          </a:ln>
        </p:spPr>
      </p:sp>
      <p:sp>
        <p:nvSpPr>
          <p:cNvPr id="19" name="Shape 17"/>
          <p:cNvSpPr/>
          <p:nvPr/>
        </p:nvSpPr>
        <p:spPr>
          <a:xfrm>
            <a:off x="5285232" y="4114800"/>
            <a:ext cx="0" cy="274320"/>
          </a:xfrm>
          <a:prstGeom prst="line">
            <a:avLst/>
          </a:prstGeom>
          <a:noFill/>
          <a:ln w="19050">
            <a:solidFill>
              <a:srgbClr val="3B4F6E"/>
            </a:solidFill>
            <a:prstDash val="solid"/>
          </a:ln>
        </p:spPr>
      </p:sp>
      <p:sp>
        <p:nvSpPr>
          <p:cNvPr id="20" name="Shape 18"/>
          <p:cNvSpPr/>
          <p:nvPr/>
        </p:nvSpPr>
        <p:spPr>
          <a:xfrm>
            <a:off x="5623560" y="4114800"/>
            <a:ext cx="0" cy="274320"/>
          </a:xfrm>
          <a:prstGeom prst="line">
            <a:avLst/>
          </a:prstGeom>
          <a:noFill/>
          <a:ln w="19050">
            <a:solidFill>
              <a:srgbClr val="3B4F6E"/>
            </a:solidFill>
            <a:prstDash val="solid"/>
          </a:ln>
        </p:spPr>
      </p:sp>
      <p:sp>
        <p:nvSpPr>
          <p:cNvPr id="21" name="Shape 19"/>
          <p:cNvSpPr/>
          <p:nvPr/>
        </p:nvSpPr>
        <p:spPr>
          <a:xfrm>
            <a:off x="5961888" y="4114800"/>
            <a:ext cx="0" cy="274320"/>
          </a:xfrm>
          <a:prstGeom prst="line">
            <a:avLst/>
          </a:prstGeom>
          <a:noFill/>
          <a:ln w="19050">
            <a:solidFill>
              <a:srgbClr val="3B4F6E"/>
            </a:solidFill>
            <a:prstDash val="solid"/>
          </a:ln>
        </p:spPr>
      </p:sp>
      <p:sp>
        <p:nvSpPr>
          <p:cNvPr id="22" name="Shape 20"/>
          <p:cNvSpPr/>
          <p:nvPr/>
        </p:nvSpPr>
        <p:spPr>
          <a:xfrm>
            <a:off x="6300216" y="4114800"/>
            <a:ext cx="0" cy="274320"/>
          </a:xfrm>
          <a:prstGeom prst="line">
            <a:avLst/>
          </a:prstGeom>
          <a:noFill/>
          <a:ln w="19050">
            <a:solidFill>
              <a:srgbClr val="3B4F6E"/>
            </a:solidFill>
            <a:prstDash val="solid"/>
          </a:ln>
        </p:spPr>
      </p:sp>
      <p:sp>
        <p:nvSpPr>
          <p:cNvPr id="23" name="Shape 21"/>
          <p:cNvSpPr/>
          <p:nvPr/>
        </p:nvSpPr>
        <p:spPr>
          <a:xfrm>
            <a:off x="6638544" y="3977640"/>
            <a:ext cx="0" cy="411480"/>
          </a:xfrm>
          <a:prstGeom prst="line">
            <a:avLst/>
          </a:prstGeom>
          <a:noFill/>
          <a:ln w="31750">
            <a:solidFill>
              <a:srgbClr val="F2A93B"/>
            </a:solidFill>
            <a:prstDash val="solid"/>
          </a:ln>
        </p:spPr>
      </p:sp>
      <p:sp>
        <p:nvSpPr>
          <p:cNvPr id="24" name="Shape 22"/>
          <p:cNvSpPr/>
          <p:nvPr/>
        </p:nvSpPr>
        <p:spPr>
          <a:xfrm>
            <a:off x="6976872" y="4114800"/>
            <a:ext cx="0" cy="274320"/>
          </a:xfrm>
          <a:prstGeom prst="line">
            <a:avLst/>
          </a:prstGeom>
          <a:noFill/>
          <a:ln w="19050">
            <a:solidFill>
              <a:srgbClr val="3B4F6E"/>
            </a:solidFill>
            <a:prstDash val="solid"/>
          </a:ln>
        </p:spPr>
      </p:sp>
      <p:sp>
        <p:nvSpPr>
          <p:cNvPr id="25" name="Shape 23"/>
          <p:cNvSpPr/>
          <p:nvPr/>
        </p:nvSpPr>
        <p:spPr>
          <a:xfrm>
            <a:off x="7315200" y="4114800"/>
            <a:ext cx="0" cy="274320"/>
          </a:xfrm>
          <a:prstGeom prst="line">
            <a:avLst/>
          </a:prstGeom>
          <a:noFill/>
          <a:ln w="19050">
            <a:solidFill>
              <a:srgbClr val="3B4F6E"/>
            </a:solidFill>
            <a:prstDash val="solid"/>
          </a:ln>
        </p:spPr>
      </p:sp>
      <p:sp>
        <p:nvSpPr>
          <p:cNvPr id="26" name="Shape 24"/>
          <p:cNvSpPr/>
          <p:nvPr/>
        </p:nvSpPr>
        <p:spPr>
          <a:xfrm>
            <a:off x="7653528" y="4114800"/>
            <a:ext cx="0" cy="274320"/>
          </a:xfrm>
          <a:prstGeom prst="line">
            <a:avLst/>
          </a:prstGeom>
          <a:noFill/>
          <a:ln w="19050">
            <a:solidFill>
              <a:srgbClr val="3B4F6E"/>
            </a:solidFill>
            <a:prstDash val="solid"/>
          </a:ln>
        </p:spPr>
      </p:sp>
      <p:sp>
        <p:nvSpPr>
          <p:cNvPr id="27" name="Shape 25"/>
          <p:cNvSpPr/>
          <p:nvPr/>
        </p:nvSpPr>
        <p:spPr>
          <a:xfrm>
            <a:off x="7991856" y="4114800"/>
            <a:ext cx="0" cy="274320"/>
          </a:xfrm>
          <a:prstGeom prst="line">
            <a:avLst/>
          </a:prstGeom>
          <a:noFill/>
          <a:ln w="19050">
            <a:solidFill>
              <a:srgbClr val="3B4F6E"/>
            </a:solidFill>
            <a:prstDash val="solid"/>
          </a:ln>
        </p:spPr>
      </p:sp>
      <p:sp>
        <p:nvSpPr>
          <p:cNvPr id="28" name="Shape 26"/>
          <p:cNvSpPr/>
          <p:nvPr/>
        </p:nvSpPr>
        <p:spPr>
          <a:xfrm>
            <a:off x="8330184" y="4114800"/>
            <a:ext cx="0" cy="274320"/>
          </a:xfrm>
          <a:prstGeom prst="line">
            <a:avLst/>
          </a:prstGeom>
          <a:noFill/>
          <a:ln w="19050">
            <a:solidFill>
              <a:srgbClr val="3B4F6E"/>
            </a:solidFill>
            <a:prstDash val="solid"/>
          </a:ln>
        </p:spPr>
      </p:sp>
      <p:sp>
        <p:nvSpPr>
          <p:cNvPr id="29" name="Text 27"/>
          <p:cNvSpPr txBox="1"/>
          <p:nvPr/>
        </p:nvSpPr>
        <p:spPr>
          <a:xfrm>
            <a:off x="548640" y="4526280"/>
            <a:ext cx="7315200" cy="274320"/>
          </a:xfrm>
          <a:prstGeom prst="rect">
            <a:avLst/>
          </a:prstGeom>
          <a:noFill/>
          <a:ln/>
        </p:spPr>
        <p:txBody>
          <a:bodyPr wrap="square" lIns="0" tIns="0" rIns="0" bIns="0" rtlCol="0" anchor="ctr"/>
          <a:lstStyle/>
          <a:p>
            <a:pPr indent="0" marL="0">
              <a:buNone/>
            </a:pPr>
            <a:r>
              <a:rPr lang="en-US" sz="1200" dirty="0">
                <a:solidFill>
                  <a:srgbClr val="C9D6EA"/>
                </a:solidFill>
                <a:latin typeface="Calibri" pitchFamily="34" charset="0"/>
                <a:ea typeface="Calibri" pitchFamily="34" charset="-122"/>
                <a:cs typeface="Calibri" pitchFamily="34" charset="-120"/>
              </a:rPr>
              <a:t>Pierre · King's College London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Why a GPU's sense of time matters</a:t>
            </a:r>
            <a:endParaRPr lang="en-US" sz="3000" dirty="0"/>
          </a:p>
        </p:txBody>
      </p:sp>
      <p:sp>
        <p:nvSpPr>
          <p:cNvPr id="3" name="Text 1"/>
          <p:cNvSpPr txBox="1"/>
          <p:nvPr/>
        </p:nvSpPr>
        <p:spPr>
          <a:xfrm>
            <a:off x="457200" y="1280160"/>
            <a:ext cx="2560320" cy="731520"/>
          </a:xfrm>
          <a:prstGeom prst="rect">
            <a:avLst/>
          </a:prstGeom>
          <a:noFill/>
          <a:ln/>
        </p:spPr>
        <p:txBody>
          <a:bodyPr wrap="square" lIns="0" tIns="0" rIns="0" bIns="0" rtlCol="0" anchor="ctr"/>
          <a:lstStyle/>
          <a:p>
            <a:pPr indent="0" marL="0">
              <a:buNone/>
            </a:pPr>
            <a:r>
              <a:rPr lang="en-US" sz="4000" b="1" dirty="0">
                <a:solidFill>
                  <a:srgbClr val="D1495B"/>
                </a:solidFill>
                <a:latin typeface="Cambria" pitchFamily="34" charset="0"/>
                <a:ea typeface="Cambria" pitchFamily="34" charset="-122"/>
                <a:cs typeface="Cambria" pitchFamily="34" charset="-120"/>
              </a:rPr>
              <a:t>±1.5 µs</a:t>
            </a:r>
            <a:endParaRPr lang="en-US" sz="4000" dirty="0"/>
          </a:p>
        </p:txBody>
      </p:sp>
      <p:sp>
        <p:nvSpPr>
          <p:cNvPr id="4" name="Text 2"/>
          <p:cNvSpPr txBox="1"/>
          <p:nvPr/>
        </p:nvSpPr>
        <p:spPr>
          <a:xfrm>
            <a:off x="457200" y="2029968"/>
            <a:ext cx="256032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max time error between 5G TDD base stations (3GPP / ITU-T G.8271)</a:t>
            </a:r>
            <a:endParaRPr lang="en-US" sz="1300" dirty="0"/>
          </a:p>
        </p:txBody>
      </p:sp>
      <p:sp>
        <p:nvSpPr>
          <p:cNvPr id="5" name="Text 3"/>
          <p:cNvSpPr txBox="1"/>
          <p:nvPr/>
        </p:nvSpPr>
        <p:spPr>
          <a:xfrm>
            <a:off x="3291840" y="1280160"/>
            <a:ext cx="2560320" cy="73152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500 µs</a:t>
            </a:r>
            <a:endParaRPr lang="en-US" sz="4000" dirty="0"/>
          </a:p>
        </p:txBody>
      </p:sp>
      <p:sp>
        <p:nvSpPr>
          <p:cNvPr id="6" name="Text 4"/>
          <p:cNvSpPr txBox="1"/>
          <p:nvPr/>
        </p:nvSpPr>
        <p:spPr>
          <a:xfrm>
            <a:off x="3291840" y="2029968"/>
            <a:ext cx="256032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one 5G slot at 30 kHz subcarrier spacing: the deadline the processing must hit</a:t>
            </a:r>
            <a:endParaRPr lang="en-US" sz="1300" dirty="0"/>
          </a:p>
        </p:txBody>
      </p:sp>
      <p:sp>
        <p:nvSpPr>
          <p:cNvPr id="7" name="Text 5"/>
          <p:cNvSpPr txBox="1"/>
          <p:nvPr/>
        </p:nvSpPr>
        <p:spPr>
          <a:xfrm>
            <a:off x="6126480" y="1280160"/>
            <a:ext cx="2560320" cy="731520"/>
          </a:xfrm>
          <a:prstGeom prst="rect">
            <a:avLst/>
          </a:prstGeom>
          <a:noFill/>
          <a:ln/>
        </p:spPr>
        <p:txBody>
          <a:bodyPr wrap="square" lIns="0" tIns="0" rIns="0" bIns="0" rtlCol="0" anchor="ctr"/>
          <a:lstStyle/>
          <a:p>
            <a:pPr indent="0" marL="0">
              <a:buNone/>
            </a:pPr>
            <a:r>
              <a:rPr lang="en-US" sz="4000" b="1" dirty="0">
                <a:solidFill>
                  <a:srgbClr val="F2A93B"/>
                </a:solidFill>
                <a:latin typeface="Cambria" pitchFamily="34" charset="0"/>
                <a:ea typeface="Cambria" pitchFamily="34" charset="-122"/>
                <a:cs typeface="Cambria" pitchFamily="34" charset="-120"/>
              </a:rPr>
              <a:t>GPU</a:t>
            </a:r>
            <a:endParaRPr lang="en-US" sz="4000" dirty="0"/>
          </a:p>
        </p:txBody>
      </p:sp>
      <p:sp>
        <p:nvSpPr>
          <p:cNvPr id="8" name="Text 6"/>
          <p:cNvSpPr txBox="1"/>
          <p:nvPr/>
        </p:nvSpPr>
        <p:spPr>
          <a:xfrm>
            <a:off x="6126480" y="2029968"/>
            <a:ext cx="256032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now runs the radio stack itself (e.g. NVIDIA Aerial), so the GPU's clock sits on the timing path</a:t>
            </a:r>
            <a:endParaRPr lang="en-US" sz="1300" dirty="0"/>
          </a:p>
        </p:txBody>
      </p:sp>
      <p:sp>
        <p:nvSpPr>
          <p:cNvPr id="9" name="Shape 7"/>
          <p:cNvSpPr/>
          <p:nvPr/>
        </p:nvSpPr>
        <p:spPr>
          <a:xfrm>
            <a:off x="457200" y="3154680"/>
            <a:ext cx="8229600" cy="1234440"/>
          </a:xfrm>
          <a:prstGeom prst="roundRect">
            <a:avLst>
              <a:gd name="adj" fmla="val 5926"/>
            </a:avLst>
          </a:prstGeom>
          <a:solidFill>
            <a:srgbClr val="F3F5F8"/>
          </a:solidFill>
          <a:ln w="12700">
            <a:solidFill>
              <a:srgbClr val="F3F5F8"/>
            </a:solidFill>
            <a:prstDash val="solid"/>
          </a:ln>
        </p:spPr>
      </p:sp>
      <p:sp>
        <p:nvSpPr>
          <p:cNvPr id="10" name="Text 8"/>
          <p:cNvSpPr txBox="1"/>
          <p:nvPr/>
        </p:nvSpPr>
        <p:spPr>
          <a:xfrm>
            <a:off x="731520" y="3291840"/>
            <a:ext cx="7680960" cy="96012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The question: </a:t>
            </a:r>
            <a:pPr indent="0" marL="0">
              <a:buNone/>
            </a:pPr>
            <a:r>
              <a:rPr lang="en-US" sz="1700" dirty="0">
                <a:solidFill>
                  <a:srgbClr val="1F2937"/>
                </a:solidFill>
                <a:latin typeface="Calibri" pitchFamily="34" charset="0"/>
                <a:ea typeface="Calibri" pitchFamily="34" charset="-122"/>
                <a:cs typeface="Calibri" pitchFamily="34" charset="-120"/>
              </a:rPr>
              <a:t>when code on a GPU reads its clock, how close is that to true time, and how would we even check?</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"Synchronise" means two different things</a:t>
            </a:r>
            <a:endParaRPr lang="en-US" sz="3000" dirty="0"/>
          </a:p>
        </p:txBody>
      </p:sp>
      <p:sp>
        <p:nvSpPr>
          <p:cNvPr id="3" name="Shape 1"/>
          <p:cNvSpPr/>
          <p:nvPr/>
        </p:nvSpPr>
        <p:spPr>
          <a:xfrm>
            <a:off x="457200" y="1234440"/>
            <a:ext cx="3931920" cy="2651760"/>
          </a:xfrm>
          <a:prstGeom prst="roundRect">
            <a:avLst>
              <a:gd name="adj" fmla="val 2759"/>
            </a:avLst>
          </a:prstGeom>
          <a:solidFill>
            <a:srgbClr val="F3F5F8"/>
          </a:solidFill>
          <a:ln w="12700">
            <a:solidFill>
              <a:srgbClr val="F3F5F8"/>
            </a:solidFill>
            <a:prstDash val="solid"/>
          </a:ln>
        </p:spPr>
      </p:sp>
      <p:sp>
        <p:nvSpPr>
          <p:cNvPr id="4" name="Shape 2"/>
          <p:cNvSpPr/>
          <p:nvPr/>
        </p:nvSpPr>
        <p:spPr>
          <a:xfrm>
            <a:off x="731520" y="1463040"/>
            <a:ext cx="329184" cy="329184"/>
          </a:xfrm>
          <a:prstGeom prst="ellipse">
            <a:avLst/>
          </a:prstGeom>
          <a:solidFill>
            <a:srgbClr val="6B7280"/>
          </a:solidFill>
          <a:ln w="12700">
            <a:solidFill>
              <a:srgbClr val="6B7280"/>
            </a:solidFill>
            <a:prstDash val="solid"/>
          </a:ln>
        </p:spPr>
      </p:sp>
      <p:sp>
        <p:nvSpPr>
          <p:cNvPr id="5" name="Text 3"/>
          <p:cNvSpPr txBox="1"/>
          <p:nvPr/>
        </p:nvSpPr>
        <p:spPr>
          <a:xfrm>
            <a:off x="1188720" y="1417320"/>
            <a:ext cx="3017520" cy="411480"/>
          </a:xfrm>
          <a:prstGeom prst="rect">
            <a:avLst/>
          </a:prstGeom>
          <a:noFill/>
          <a:ln/>
        </p:spPr>
        <p:txBody>
          <a:bodyPr wrap="square" lIns="0" tIns="0" rIns="0" bIns="0" rtlCol="0" anchor="ctr"/>
          <a:lstStyle/>
          <a:p>
            <a:pPr indent="0" marL="0">
              <a:buNone/>
            </a:pPr>
            <a:r>
              <a:rPr lang="en-US" sz="1900" b="1" dirty="0">
                <a:solidFill>
                  <a:srgbClr val="0E1A2B"/>
                </a:solidFill>
                <a:latin typeface="Cambria" pitchFamily="34" charset="0"/>
                <a:ea typeface="Cambria" pitchFamily="34" charset="-122"/>
                <a:cs typeface="Cambria" pitchFamily="34" charset="-120"/>
              </a:rPr>
              <a:t>Execution sync</a:t>
            </a:r>
            <a:endParaRPr lang="en-US" sz="1900" dirty="0"/>
          </a:p>
        </p:txBody>
      </p:sp>
      <p:sp>
        <p:nvSpPr>
          <p:cNvPr id="6" name="Text 4"/>
          <p:cNvSpPr txBox="1"/>
          <p:nvPr/>
        </p:nvSpPr>
        <p:spPr>
          <a:xfrm>
            <a:off x="731520" y="2011680"/>
            <a:ext cx="3383280" cy="457200"/>
          </a:xfrm>
          <a:prstGeom prst="rect">
            <a:avLst/>
          </a:prstGeom>
          <a:solidFill>
            <a:srgbClr val="FFFFFF"/>
          </a:solidFill>
          <a:ln/>
        </p:spPr>
        <p:txBody>
          <a:bodyPr wrap="square" lIns="76200" tIns="76200" rIns="76200" bIns="76200" rtlCol="0" anchor="ctr"/>
          <a:lstStyle/>
          <a:p>
            <a:pPr indent="0" marL="0">
              <a:buNone/>
            </a:pPr>
            <a:r>
              <a:rPr lang="en-US" sz="1300" dirty="0">
                <a:solidFill>
                  <a:srgbClr val="0E1A2B"/>
                </a:solidFill>
                <a:latin typeface="Courier New" pitchFamily="34" charset="0"/>
                <a:ea typeface="Courier New" pitchFamily="34" charset="-122"/>
                <a:cs typeface="Courier New" pitchFamily="34" charset="-120"/>
              </a:rPr>
              <a:t>cudaDeviceSynchronize()</a:t>
            </a:r>
            <a:endParaRPr lang="en-US" sz="1300" dirty="0"/>
          </a:p>
        </p:txBody>
      </p:sp>
      <p:sp>
        <p:nvSpPr>
          <p:cNvPr id="7" name="Text 5"/>
          <p:cNvSpPr txBox="1"/>
          <p:nvPr/>
        </p:nvSpPr>
        <p:spPr>
          <a:xfrm>
            <a:off x="731520" y="2651760"/>
            <a:ext cx="338328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"Wait until the GPU has finished." Tells you work is done, not when it finished. The CPU notices late.</a:t>
            </a:r>
            <a:endParaRPr lang="en-US" sz="1400" dirty="0"/>
          </a:p>
        </p:txBody>
      </p:sp>
      <p:sp>
        <p:nvSpPr>
          <p:cNvPr id="8" name="Shape 6"/>
          <p:cNvSpPr/>
          <p:nvPr/>
        </p:nvSpPr>
        <p:spPr>
          <a:xfrm>
            <a:off x="4754880" y="1234440"/>
            <a:ext cx="3931920" cy="2651760"/>
          </a:xfrm>
          <a:prstGeom prst="roundRect">
            <a:avLst>
              <a:gd name="adj" fmla="val 2759"/>
            </a:avLst>
          </a:prstGeom>
          <a:solidFill>
            <a:srgbClr val="F3F5F8"/>
          </a:solidFill>
          <a:ln w="12700">
            <a:solidFill>
              <a:srgbClr val="F3F5F8"/>
            </a:solidFill>
            <a:prstDash val="solid"/>
          </a:ln>
        </p:spPr>
      </p:sp>
      <p:sp>
        <p:nvSpPr>
          <p:cNvPr id="9" name="Shape 7"/>
          <p:cNvSpPr/>
          <p:nvPr/>
        </p:nvSpPr>
        <p:spPr>
          <a:xfrm>
            <a:off x="5029200" y="1463040"/>
            <a:ext cx="329184" cy="329184"/>
          </a:xfrm>
          <a:prstGeom prst="ellipse">
            <a:avLst/>
          </a:prstGeom>
          <a:solidFill>
            <a:srgbClr val="F2A93B"/>
          </a:solidFill>
          <a:ln w="12700">
            <a:solidFill>
              <a:srgbClr val="F2A93B"/>
            </a:solidFill>
            <a:prstDash val="solid"/>
          </a:ln>
        </p:spPr>
      </p:sp>
      <p:sp>
        <p:nvSpPr>
          <p:cNvPr id="10" name="Text 8"/>
          <p:cNvSpPr txBox="1"/>
          <p:nvPr/>
        </p:nvSpPr>
        <p:spPr>
          <a:xfrm>
            <a:off x="5486400" y="1417320"/>
            <a:ext cx="3017520" cy="411480"/>
          </a:xfrm>
          <a:prstGeom prst="rect">
            <a:avLst/>
          </a:prstGeom>
          <a:noFill/>
          <a:ln/>
        </p:spPr>
        <p:txBody>
          <a:bodyPr wrap="square" lIns="0" tIns="0" rIns="0" bIns="0" rtlCol="0" anchor="ctr"/>
          <a:lstStyle/>
          <a:p>
            <a:pPr indent="0" marL="0">
              <a:buNone/>
            </a:pPr>
            <a:r>
              <a:rPr lang="en-US" sz="1900" b="1" dirty="0">
                <a:solidFill>
                  <a:srgbClr val="0E1A2B"/>
                </a:solidFill>
                <a:latin typeface="Cambria" pitchFamily="34" charset="0"/>
                <a:ea typeface="Cambria" pitchFamily="34" charset="-122"/>
                <a:cs typeface="Cambria" pitchFamily="34" charset="-120"/>
              </a:rPr>
              <a:t>Clock alignment</a:t>
            </a:r>
            <a:endParaRPr lang="en-US" sz="1900" dirty="0"/>
          </a:p>
        </p:txBody>
      </p:sp>
      <p:sp>
        <p:nvSpPr>
          <p:cNvPr id="11" name="Text 9"/>
          <p:cNvSpPr txBox="1"/>
          <p:nvPr/>
        </p:nvSpPr>
        <p:spPr>
          <a:xfrm>
            <a:off x="5029200" y="2011680"/>
            <a:ext cx="3383280" cy="457200"/>
          </a:xfrm>
          <a:prstGeom prst="rect">
            <a:avLst/>
          </a:prstGeom>
          <a:solidFill>
            <a:srgbClr val="FFFFFF"/>
          </a:solidFill>
          <a:ln/>
        </p:spPr>
        <p:txBody>
          <a:bodyPr wrap="square" lIns="76200" tIns="76200" rIns="76200" bIns="76200" rtlCol="0" anchor="ctr"/>
          <a:lstStyle/>
          <a:p>
            <a:pPr indent="0" marL="0">
              <a:buNone/>
            </a:pPr>
            <a:r>
              <a:rPr lang="en-US" sz="1300" dirty="0">
                <a:solidFill>
                  <a:srgbClr val="0E1A2B"/>
                </a:solidFill>
                <a:latin typeface="Courier New" pitchFamily="34" charset="0"/>
                <a:ea typeface="Courier New" pitchFamily="34" charset="-122"/>
                <a:cs typeface="Courier New" pitchFamily="34" charset="-120"/>
              </a:rPr>
              <a:t>cpu_ns ≈ a · gpu_tick + b</a:t>
            </a:r>
            <a:endParaRPr lang="en-US" sz="1300" dirty="0"/>
          </a:p>
        </p:txBody>
      </p:sp>
      <p:sp>
        <p:nvSpPr>
          <p:cNvPr id="12" name="Text 10"/>
          <p:cNvSpPr txBox="1"/>
          <p:nvPr/>
        </p:nvSpPr>
        <p:spPr>
          <a:xfrm>
            <a:off x="5029200" y="2651760"/>
            <a:ext cx="338328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"This GPU timestamp equals that CPU time." Needs offset b, rate a, and an honest error bound. This project is about this one.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The experiment: bracket every GPU clock read</a:t>
            </a:r>
            <a:endParaRPr lang="en-US" sz="3000" dirty="0"/>
          </a:p>
        </p:txBody>
      </p:sp>
      <p:sp>
        <p:nvSpPr>
          <p:cNvPr id="3" name="Text 1"/>
          <p:cNvSpPr txBox="1"/>
          <p:nvPr/>
        </p:nvSpPr>
        <p:spPr>
          <a:xfrm>
            <a:off x="457200" y="1417320"/>
            <a:ext cx="548640" cy="274320"/>
          </a:xfrm>
          <a:prstGeom prst="rect">
            <a:avLst/>
          </a:prstGeom>
          <a:noFill/>
          <a:ln/>
        </p:spPr>
        <p:txBody>
          <a:bodyPr wrap="square" lIns="0" tIns="0" rIns="0" bIns="0" rtlCol="0" anchor="ctr"/>
          <a:lstStyle/>
          <a:p>
            <a:pPr indent="0" marL="0">
              <a:buNone/>
            </a:pPr>
            <a:r>
              <a:rPr lang="en-US" sz="1300" b="1" dirty="0">
                <a:solidFill>
                  <a:srgbClr val="2A9D8F"/>
                </a:solidFill>
                <a:latin typeface="Calibri" pitchFamily="34" charset="0"/>
                <a:ea typeface="Calibri" pitchFamily="34" charset="-122"/>
                <a:cs typeface="Calibri" pitchFamily="34" charset="-120"/>
              </a:rPr>
              <a:t>CPU</a:t>
            </a:r>
            <a:endParaRPr lang="en-US" sz="1300" dirty="0"/>
          </a:p>
        </p:txBody>
      </p:sp>
      <p:sp>
        <p:nvSpPr>
          <p:cNvPr id="4" name="Text 2"/>
          <p:cNvSpPr txBox="1"/>
          <p:nvPr/>
        </p:nvSpPr>
        <p:spPr>
          <a:xfrm>
            <a:off x="457200" y="2971800"/>
            <a:ext cx="548640" cy="274320"/>
          </a:xfrm>
          <a:prstGeom prst="rect">
            <a:avLst/>
          </a:prstGeom>
          <a:noFill/>
          <a:ln/>
        </p:spPr>
        <p:txBody>
          <a:bodyPr wrap="square" lIns="0" tIns="0" rIns="0" bIns="0" rtlCol="0" anchor="ctr"/>
          <a:lstStyle/>
          <a:p>
            <a:pPr indent="0" marL="0">
              <a:buNone/>
            </a:pPr>
            <a:r>
              <a:rPr lang="en-US" sz="1300" b="1" dirty="0">
                <a:solidFill>
                  <a:srgbClr val="F2A93B"/>
                </a:solidFill>
                <a:latin typeface="Calibri" pitchFamily="34" charset="0"/>
                <a:ea typeface="Calibri" pitchFamily="34" charset="-122"/>
                <a:cs typeface="Calibri" pitchFamily="34" charset="-120"/>
              </a:rPr>
              <a:t>GPU</a:t>
            </a:r>
            <a:endParaRPr lang="en-US" sz="1300" dirty="0"/>
          </a:p>
        </p:txBody>
      </p:sp>
      <p:sp>
        <p:nvSpPr>
          <p:cNvPr id="5" name="Shape 3"/>
          <p:cNvSpPr/>
          <p:nvPr/>
        </p:nvSpPr>
        <p:spPr>
          <a:xfrm>
            <a:off x="1005840" y="1554480"/>
            <a:ext cx="4663440" cy="0"/>
          </a:xfrm>
          <a:prstGeom prst="line">
            <a:avLst/>
          </a:prstGeom>
          <a:noFill/>
          <a:ln w="25400">
            <a:solidFill>
              <a:srgbClr val="2A9D8F"/>
            </a:solidFill>
            <a:prstDash val="solid"/>
          </a:ln>
        </p:spPr>
      </p:sp>
      <p:sp>
        <p:nvSpPr>
          <p:cNvPr id="6" name="Shape 4"/>
          <p:cNvSpPr/>
          <p:nvPr/>
        </p:nvSpPr>
        <p:spPr>
          <a:xfrm>
            <a:off x="1005840" y="3108960"/>
            <a:ext cx="4663440" cy="0"/>
          </a:xfrm>
          <a:prstGeom prst="line">
            <a:avLst/>
          </a:prstGeom>
          <a:noFill/>
          <a:ln w="25400">
            <a:solidFill>
              <a:srgbClr val="F2A93B"/>
            </a:solidFill>
            <a:prstDash val="solid"/>
          </a:ln>
        </p:spPr>
      </p:sp>
      <p:sp>
        <p:nvSpPr>
          <p:cNvPr id="7" name="Shape 5"/>
          <p:cNvSpPr/>
          <p:nvPr/>
        </p:nvSpPr>
        <p:spPr>
          <a:xfrm>
            <a:off x="1554480" y="1554480"/>
            <a:ext cx="1463040" cy="1554480"/>
          </a:xfrm>
          <a:prstGeom prst="line">
            <a:avLst/>
          </a:prstGeom>
          <a:noFill/>
          <a:ln w="19050">
            <a:solidFill>
              <a:srgbClr val="0E1A2B"/>
            </a:solidFill>
            <a:prstDash val="solid"/>
            <a:tailEnd type="triangle"/>
          </a:ln>
        </p:spPr>
      </p:sp>
      <p:sp>
        <p:nvSpPr>
          <p:cNvPr id="8" name="Shape 6"/>
          <p:cNvSpPr/>
          <p:nvPr/>
        </p:nvSpPr>
        <p:spPr>
          <a:xfrm flipV="1">
            <a:off x="3017520" y="1554480"/>
            <a:ext cx="1463040" cy="1554480"/>
          </a:xfrm>
          <a:prstGeom prst="line">
            <a:avLst/>
          </a:prstGeom>
          <a:noFill/>
          <a:ln w="19050">
            <a:solidFill>
              <a:srgbClr val="0E1A2B"/>
            </a:solidFill>
            <a:prstDash val="solid"/>
            <a:tailEnd type="triangle"/>
          </a:ln>
        </p:spPr>
      </p:sp>
      <p:sp>
        <p:nvSpPr>
          <p:cNvPr id="9" name="Shape 7"/>
          <p:cNvSpPr/>
          <p:nvPr/>
        </p:nvSpPr>
        <p:spPr>
          <a:xfrm>
            <a:off x="1463040" y="1463040"/>
            <a:ext cx="182880" cy="182880"/>
          </a:xfrm>
          <a:prstGeom prst="ellipse">
            <a:avLst/>
          </a:prstGeom>
          <a:solidFill>
            <a:srgbClr val="2A9D8F"/>
          </a:solidFill>
          <a:ln w="12700">
            <a:solidFill>
              <a:srgbClr val="2A9D8F"/>
            </a:solidFill>
            <a:prstDash val="solid"/>
          </a:ln>
        </p:spPr>
      </p:sp>
      <p:sp>
        <p:nvSpPr>
          <p:cNvPr id="10" name="Shape 8"/>
          <p:cNvSpPr/>
          <p:nvPr/>
        </p:nvSpPr>
        <p:spPr>
          <a:xfrm>
            <a:off x="4389120" y="1463040"/>
            <a:ext cx="182880" cy="182880"/>
          </a:xfrm>
          <a:prstGeom prst="ellipse">
            <a:avLst/>
          </a:prstGeom>
          <a:solidFill>
            <a:srgbClr val="2A9D8F"/>
          </a:solidFill>
          <a:ln w="12700">
            <a:solidFill>
              <a:srgbClr val="2A9D8F"/>
            </a:solidFill>
            <a:prstDash val="solid"/>
          </a:ln>
        </p:spPr>
      </p:sp>
      <p:sp>
        <p:nvSpPr>
          <p:cNvPr id="11" name="Shape 9"/>
          <p:cNvSpPr/>
          <p:nvPr/>
        </p:nvSpPr>
        <p:spPr>
          <a:xfrm>
            <a:off x="2926080" y="3017520"/>
            <a:ext cx="182880" cy="182880"/>
          </a:xfrm>
          <a:prstGeom prst="ellipse">
            <a:avLst/>
          </a:prstGeom>
          <a:solidFill>
            <a:srgbClr val="F2A93B"/>
          </a:solidFill>
          <a:ln w="12700">
            <a:solidFill>
              <a:srgbClr val="F2A93B"/>
            </a:solidFill>
            <a:prstDash val="solid"/>
          </a:ln>
        </p:spPr>
      </p:sp>
      <p:sp>
        <p:nvSpPr>
          <p:cNvPr id="12" name="Text 10"/>
          <p:cNvSpPr txBox="1"/>
          <p:nvPr/>
        </p:nvSpPr>
        <p:spPr>
          <a:xfrm>
            <a:off x="914400" y="914400"/>
            <a:ext cx="1463040" cy="50292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t0: CPU reads TSC,</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writes "go"</a:t>
            </a:r>
            <a:endParaRPr lang="en-US" sz="1100" dirty="0"/>
          </a:p>
        </p:txBody>
      </p:sp>
      <p:sp>
        <p:nvSpPr>
          <p:cNvPr id="13" name="Text 11"/>
          <p:cNvSpPr txBox="1"/>
          <p:nvPr/>
        </p:nvSpPr>
        <p:spPr>
          <a:xfrm>
            <a:off x="3749040" y="914400"/>
            <a:ext cx="1554480" cy="50292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t1: CPU sees "done",</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reads TSC</a:t>
            </a:r>
            <a:endParaRPr lang="en-US" sz="1100" dirty="0"/>
          </a:p>
        </p:txBody>
      </p:sp>
      <p:sp>
        <p:nvSpPr>
          <p:cNvPr id="14" name="Text 12"/>
          <p:cNvSpPr txBox="1"/>
          <p:nvPr/>
        </p:nvSpPr>
        <p:spPr>
          <a:xfrm>
            <a:off x="1645920" y="3291840"/>
            <a:ext cx="283464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GPU sees "go", reads its own clock, writes "done"</a:t>
            </a:r>
            <a:endParaRPr lang="en-US" sz="1100" dirty="0"/>
          </a:p>
        </p:txBody>
      </p:sp>
      <p:sp>
        <p:nvSpPr>
          <p:cNvPr id="15" name="Shape 13"/>
          <p:cNvSpPr/>
          <p:nvPr/>
        </p:nvSpPr>
        <p:spPr>
          <a:xfrm>
            <a:off x="1554480" y="3931920"/>
            <a:ext cx="2926080" cy="109728"/>
          </a:xfrm>
          <a:prstGeom prst="rect">
            <a:avLst/>
          </a:prstGeom>
          <a:solidFill>
            <a:srgbClr val="C9D6EA"/>
          </a:solidFill>
          <a:ln w="12700">
            <a:solidFill>
              <a:srgbClr val="C9D6EA"/>
            </a:solidFill>
            <a:prstDash val="solid"/>
          </a:ln>
        </p:spPr>
      </p:sp>
      <p:sp>
        <p:nvSpPr>
          <p:cNvPr id="16" name="Text 14"/>
          <p:cNvSpPr txBox="1"/>
          <p:nvPr/>
        </p:nvSpPr>
        <p:spPr>
          <a:xfrm>
            <a:off x="914400" y="4114800"/>
            <a:ext cx="4206240" cy="32004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bracket = t1 − t0: the GPU read happened somewhere inside</a:t>
            </a:r>
            <a:endParaRPr lang="en-US" sz="1100" dirty="0"/>
          </a:p>
        </p:txBody>
      </p:sp>
      <p:sp>
        <p:nvSpPr>
          <p:cNvPr id="17" name="Shape 15"/>
          <p:cNvSpPr/>
          <p:nvPr/>
        </p:nvSpPr>
        <p:spPr>
          <a:xfrm>
            <a:off x="5943600" y="1188720"/>
            <a:ext cx="2743200" cy="3291840"/>
          </a:xfrm>
          <a:prstGeom prst="roundRect">
            <a:avLst>
              <a:gd name="adj" fmla="val 2667"/>
            </a:avLst>
          </a:prstGeom>
          <a:solidFill>
            <a:srgbClr val="F3F5F8"/>
          </a:solidFill>
          <a:ln w="12700">
            <a:solidFill>
              <a:srgbClr val="F3F5F8"/>
            </a:solidFill>
            <a:prstDash val="solid"/>
          </a:ln>
        </p:spPr>
      </p:sp>
      <p:sp>
        <p:nvSpPr>
          <p:cNvPr id="18" name="Text 16"/>
          <p:cNvSpPr txBox="1"/>
          <p:nvPr/>
        </p:nvSpPr>
        <p:spPr>
          <a:xfrm>
            <a:off x="6172200" y="1325880"/>
            <a:ext cx="2377440" cy="3017520"/>
          </a:xfrm>
          <a:prstGeom prst="rect">
            <a:avLst/>
          </a:prstGeom>
          <a:noFill/>
          <a:ln/>
        </p:spPr>
        <p:txBody>
          <a:bodyPr wrap="square" lIns="0" tIns="0" rIns="0" bIns="0" rtlCol="0" anchor="t"/>
          <a:lstStyle/>
          <a:p>
            <a:pPr indent="0" marL="0">
              <a:buNone/>
            </a:pPr>
            <a:r>
              <a:rPr lang="en-US" sz="1200" b="1" dirty="0">
                <a:solidFill>
                  <a:srgbClr val="0E1A2B"/>
                </a:solidFill>
                <a:latin typeface="Calibri" pitchFamily="34" charset="0"/>
                <a:ea typeface="Calibri" pitchFamily="34" charset="-122"/>
                <a:cs typeface="Calibri" pitchFamily="34" charset="-120"/>
              </a:rPr>
              <a:t>Machine</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AMD Ryzen AI 7 350 laptop, on battery</a:t>
            </a:r>
            <a:endParaRPr lang="en-US" sz="1200" dirty="0"/>
          </a:p>
          <a:p>
            <a:pPr indent="0" marL="0">
              <a:buNone/>
            </a:pPr>
            <a:r>
              <a:rPr lang="en-US" sz="600" dirty="0">
                <a:solidFill>
                  <a:srgbClr val="1F2937"/>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0E1A2B"/>
                </a:solidFill>
                <a:latin typeface="Calibri" pitchFamily="34" charset="0"/>
                <a:ea typeface="Calibri" pitchFamily="34" charset="-122"/>
                <a:cs typeface="Calibri" pitchFamily="34" charset="-120"/>
              </a:rPr>
              <a:t>GPU</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Radeon 860M iGPU (gfx1152), OpenCL 2.0</a:t>
            </a:r>
            <a:endParaRPr lang="en-US" sz="1200" dirty="0"/>
          </a:p>
          <a:p>
            <a:pPr indent="0" marL="0">
              <a:buNone/>
            </a:pPr>
            <a:r>
              <a:rPr lang="en-US" sz="600" dirty="0">
                <a:solidFill>
                  <a:srgbClr val="1F2937"/>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0E1A2B"/>
                </a:solidFill>
                <a:latin typeface="Calibri" pitchFamily="34" charset="0"/>
                <a:ea typeface="Calibri" pitchFamily="34" charset="-122"/>
                <a:cs typeface="Calibri" pitchFamily="34" charset="-120"/>
              </a:rPr>
              <a:t>Clocks compared</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CPU TSC ≈ 1996 MHz</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GPU REALTIME ≈ 99.81 MHz</a:t>
            </a:r>
            <a:endParaRPr lang="en-US" sz="1200" dirty="0"/>
          </a:p>
          <a:p>
            <a:pPr indent="0" marL="0">
              <a:buNone/>
            </a:pPr>
            <a:r>
              <a:rPr lang="en-US" sz="600" dirty="0">
                <a:solidFill>
                  <a:srgbClr val="1F2937"/>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0E1A2B"/>
                </a:solidFill>
                <a:latin typeface="Calibri" pitchFamily="34" charset="0"/>
                <a:ea typeface="Calibri" pitchFamily="34" charset="-122"/>
                <a:cs typeface="Calibri" pitchFamily="34" charset="-120"/>
              </a:rPr>
              <a:t>Samples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492,400 brackets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Python launch vs native ping-pong</a:t>
            </a:r>
            <a:endParaRPr lang="en-US" sz="3000" dirty="0"/>
          </a:p>
        </p:txBody>
      </p:sp>
      <p:graphicFrame>
        <p:nvGraphicFramePr>
          <p:cNvPr id="3" name="Chart 0" descr=""/>
          <p:cNvGraphicFramePr/>
          <p:nvPr/>
        </p:nvGraphicFramePr>
        <p:xfrm>
          <a:off x="457200" y="114300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943600" y="1280160"/>
            <a:ext cx="2743200" cy="731520"/>
          </a:xfrm>
          <a:prstGeom prst="rect">
            <a:avLst/>
          </a:prstGeom>
          <a:noFill/>
          <a:ln/>
        </p:spPr>
        <p:txBody>
          <a:bodyPr wrap="square" lIns="0" tIns="0" rIns="0" bIns="0" rtlCol="0" anchor="ctr"/>
          <a:lstStyle/>
          <a:p>
            <a:pPr indent="0" marL="0">
              <a:buNone/>
            </a:pPr>
            <a:r>
              <a:rPr lang="en-US" sz="4000" b="1" dirty="0">
                <a:solidFill>
                  <a:srgbClr val="F2A93B"/>
                </a:solidFill>
                <a:latin typeface="Cambria" pitchFamily="34" charset="0"/>
                <a:ea typeface="Cambria" pitchFamily="34" charset="-122"/>
                <a:cs typeface="Cambria" pitchFamily="34" charset="-120"/>
              </a:rPr>
              <a:t>723×</a:t>
            </a:r>
            <a:endParaRPr lang="en-US" sz="4000" dirty="0"/>
          </a:p>
        </p:txBody>
      </p:sp>
      <p:sp>
        <p:nvSpPr>
          <p:cNvPr id="5" name="Text 2"/>
          <p:cNvSpPr txBox="1"/>
          <p:nvPr/>
        </p:nvSpPr>
        <p:spPr>
          <a:xfrm>
            <a:off x="5943600" y="2029968"/>
            <a:ext cx="274320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tighter than the first Python attempt (idle median vs native best case)</a:t>
            </a:r>
            <a:endParaRPr lang="en-US" sz="1300" dirty="0"/>
          </a:p>
        </p:txBody>
      </p:sp>
      <p:sp>
        <p:nvSpPr>
          <p:cNvPr id="6" name="Text 3"/>
          <p:cNvSpPr txBox="1"/>
          <p:nvPr/>
        </p:nvSpPr>
        <p:spPr>
          <a:xfrm>
            <a:off x="5943600" y="2788920"/>
            <a:ext cx="2743200" cy="73152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1.16 µs</a:t>
            </a:r>
            <a:endParaRPr lang="en-US" sz="4000" dirty="0"/>
          </a:p>
        </p:txBody>
      </p:sp>
      <p:sp>
        <p:nvSpPr>
          <p:cNvPr id="7" name="Text 4"/>
          <p:cNvSpPr txBox="1"/>
          <p:nvPr/>
        </p:nvSpPr>
        <p:spPr>
          <a:xfrm>
            <a:off x="5943600" y="3538728"/>
            <a:ext cx="274320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best-case bracket: close to the 5G ±1.5 µs budget, but only in the best 1%</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420624" cy="420624"/>
          </a:xfrm>
          <a:prstGeom prst="ellipse">
            <a:avLst/>
          </a:prstGeom>
          <a:solidFill>
            <a:srgbClr val="F2A93B"/>
          </a:solidFill>
          <a:ln w="12700">
            <a:solidFill>
              <a:srgbClr val="F2A93B"/>
            </a:solidFill>
            <a:prstDash val="solid"/>
          </a:ln>
        </p:spPr>
      </p:sp>
      <p:sp>
        <p:nvSpPr>
          <p:cNvPr id="3" name="Text 1"/>
          <p:cNvSpPr txBox="1"/>
          <p:nvPr/>
        </p:nvSpPr>
        <p:spPr>
          <a:xfrm>
            <a:off x="457200" y="411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mbria" pitchFamily="34" charset="0"/>
                <a:ea typeface="Cambria" pitchFamily="34" charset="-122"/>
                <a:cs typeface="Cambria" pitchFamily="34" charset="-120"/>
              </a:rPr>
              <a:t>1</a:t>
            </a:r>
            <a:endParaRPr lang="en-US" sz="1600" dirty="0"/>
          </a:p>
        </p:txBody>
      </p:sp>
      <p:sp>
        <p:nvSpPr>
          <p:cNvPr id="4" name="Text 2"/>
          <p:cNvSpPr txBox="1"/>
          <p:nvPr/>
        </p:nvSpPr>
        <p:spPr>
          <a:xfrm>
            <a:off x="1005840" y="274320"/>
            <a:ext cx="7680960" cy="685800"/>
          </a:xfrm>
          <a:prstGeom prst="rect">
            <a:avLst/>
          </a:prstGeom>
          <a:noFill/>
          <a:ln/>
        </p:spPr>
        <p:txBody>
          <a:bodyPr wrap="square" lIns="0" tIns="0" rIns="0" bIns="0" rtlCol="0" anchor="ctr"/>
          <a:lstStyle/>
          <a:p>
            <a:pPr indent="0" marL="0">
              <a:buNone/>
            </a:pPr>
            <a:r>
              <a:rPr lang="en-US" sz="2800" b="1" dirty="0">
                <a:solidFill>
                  <a:srgbClr val="0E1A2B"/>
                </a:solidFill>
                <a:latin typeface="Cambria" pitchFamily="34" charset="0"/>
                <a:ea typeface="Cambria" pitchFamily="34" charset="-122"/>
                <a:cs typeface="Cambria" pitchFamily="34" charset="-120"/>
              </a:rPr>
              <a:t>The official clock-pairing API is fake</a:t>
            </a:r>
            <a:endParaRPr lang="en-US" sz="2800" dirty="0"/>
          </a:p>
        </p:txBody>
      </p:sp>
      <p:sp>
        <p:nvSpPr>
          <p:cNvPr id="5" name="Text 3"/>
          <p:cNvSpPr txBox="1"/>
          <p:nvPr/>
        </p:nvSpPr>
        <p:spPr>
          <a:xfrm>
            <a:off x="457200" y="1188720"/>
            <a:ext cx="822960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clGetDeviceAndHostTimer() should return one GPU reading and one CPU reading taken together. On this driver:</a:t>
            </a:r>
            <a:endParaRPr lang="en-US" sz="1500" dirty="0"/>
          </a:p>
        </p:txBody>
      </p:sp>
      <p:sp>
        <p:nvSpPr>
          <p:cNvPr id="6" name="Text 4"/>
          <p:cNvSpPr txBox="1"/>
          <p:nvPr/>
        </p:nvSpPr>
        <p:spPr>
          <a:xfrm>
            <a:off x="457200" y="1828800"/>
            <a:ext cx="4754880" cy="822960"/>
          </a:xfrm>
          <a:prstGeom prst="rect">
            <a:avLst/>
          </a:prstGeom>
          <a:solidFill>
            <a:srgbClr val="0E1A2B"/>
          </a:solidFill>
          <a:ln/>
        </p:spPr>
        <p:txBody>
          <a:bodyPr wrap="square" lIns="152400" tIns="152400" rIns="152400" bIns="152400" rtlCol="0" anchor="ctr"/>
          <a:lstStyle/>
          <a:p>
            <a:pPr indent="0" marL="0">
              <a:buNone/>
            </a:pPr>
            <a:r>
              <a:rPr lang="en-US" sz="1800" dirty="0">
                <a:solidFill>
                  <a:srgbClr val="FFFFFF"/>
                </a:solidFill>
                <a:latin typeface="Courier New" pitchFamily="34" charset="0"/>
                <a:ea typeface="Courier New" pitchFamily="34" charset="-122"/>
                <a:cs typeface="Courier New" pitchFamily="34" charset="-120"/>
              </a:rPr>
              <a:t>device = 12136683975300</a:t>
            </a:r>
            <a:endParaRPr lang="en-US" sz="1800" dirty="0"/>
          </a:p>
          <a:p>
            <a:pPr indent="0" marL="0">
              <a:buNone/>
            </a:pPr>
            <a:r>
              <a:rPr lang="en-US" sz="1800" dirty="0">
                <a:solidFill>
                  <a:srgbClr val="FFFFFF"/>
                </a:solidFill>
                <a:latin typeface="Courier New" pitchFamily="34" charset="0"/>
                <a:ea typeface="Courier New" pitchFamily="34" charset="-122"/>
                <a:cs typeface="Courier New" pitchFamily="34" charset="-120"/>
              </a:rPr>
              <a:t>host   = 12136683975300</a:t>
            </a:r>
            <a:endParaRPr lang="en-US" sz="1800" dirty="0"/>
          </a:p>
        </p:txBody>
      </p:sp>
      <p:sp>
        <p:nvSpPr>
          <p:cNvPr id="7" name="Text 5"/>
          <p:cNvSpPr txBox="1"/>
          <p:nvPr/>
        </p:nvSpPr>
        <p:spPr>
          <a:xfrm>
            <a:off x="5486400" y="1828800"/>
            <a:ext cx="3200400" cy="822960"/>
          </a:xfrm>
          <a:prstGeom prst="rect">
            <a:avLst/>
          </a:prstGeom>
          <a:noFill/>
          <a:ln/>
        </p:spPr>
        <p:txBody>
          <a:bodyPr wrap="square" lIns="0" tIns="0" rIns="0" bIns="0" rtlCol="0" anchor="ctr"/>
          <a:lstStyle/>
          <a:p>
            <a:pPr indent="0" marL="0">
              <a:buNone/>
            </a:pPr>
            <a:r>
              <a:rPr lang="en-US" sz="1400" b="1" dirty="0">
                <a:solidFill>
                  <a:srgbClr val="D1495B"/>
                </a:solidFill>
                <a:latin typeface="Calibri" pitchFamily="34" charset="0"/>
                <a:ea typeface="Calibri" pitchFamily="34" charset="-122"/>
                <a:cs typeface="Calibri" pitchFamily="34" charset="-120"/>
              </a:rPr>
              <a:t>Identical. Both are the CPU's performance counter. The GPU clock is never consulted.</a:t>
            </a:r>
            <a:endParaRPr lang="en-US" sz="1400" dirty="0"/>
          </a:p>
        </p:txBody>
      </p:sp>
      <p:sp>
        <p:nvSpPr>
          <p:cNvPr id="8" name="Shape 6"/>
          <p:cNvSpPr/>
          <p:nvPr/>
        </p:nvSpPr>
        <p:spPr>
          <a:xfrm>
            <a:off x="457200" y="2971800"/>
            <a:ext cx="8229600" cy="1463040"/>
          </a:xfrm>
          <a:prstGeom prst="roundRect">
            <a:avLst>
              <a:gd name="adj" fmla="val 5000"/>
            </a:avLst>
          </a:prstGeom>
          <a:solidFill>
            <a:srgbClr val="F3F5F8"/>
          </a:solidFill>
          <a:ln w="12700">
            <a:solidFill>
              <a:srgbClr val="F3F5F8"/>
            </a:solidFill>
            <a:prstDash val="solid"/>
          </a:ln>
        </p:spPr>
      </p:sp>
      <p:sp>
        <p:nvSpPr>
          <p:cNvPr id="9" name="Text 7"/>
          <p:cNvSpPr txBox="1"/>
          <p:nvPr/>
        </p:nvSpPr>
        <p:spPr>
          <a:xfrm>
            <a:off x="731520" y="3108960"/>
            <a:ext cx="7680960" cy="1188720"/>
          </a:xfrm>
          <a:prstGeom prst="rect">
            <a:avLst/>
          </a:prstGeom>
          <a:noFill/>
          <a:ln/>
        </p:spPr>
        <p:txBody>
          <a:bodyPr wrap="square" lIns="0" tIns="0" rIns="0" bIns="0" rtlCol="0" anchor="ctr"/>
          <a:lstStyle/>
          <a:p>
            <a:pPr indent="0" marL="0">
              <a:buNone/>
            </a:pPr>
            <a:r>
              <a:rPr lang="en-US" sz="1500" b="1" dirty="0">
                <a:solidFill>
                  <a:srgbClr val="0E1A2B"/>
                </a:solidFill>
                <a:latin typeface="Calibri" pitchFamily="34" charset="0"/>
                <a:ea typeface="Calibri" pitchFamily="34" charset="-122"/>
                <a:cs typeface="Calibri" pitchFamily="34" charset="-120"/>
              </a:rPr>
              <a:t>Also: </a:t>
            </a:r>
            <a:pPr indent="0" marL="0">
              <a:buNone/>
            </a:pPr>
            <a:r>
              <a:rPr lang="en-US" sz="1500" dirty="0">
                <a:solidFill>
                  <a:srgbClr val="1F2937"/>
                </a:solidFill>
                <a:latin typeface="Calibri" pitchFamily="34" charset="0"/>
                <a:ea typeface="Calibri" pitchFamily="34" charset="-122"/>
                <a:cs typeface="Calibri" pitchFamily="34" charset="-120"/>
              </a:rPr>
              <a:t>kernel start/end timestamps from the driver are already converted into CPU time, with no way to see the conversion. </a:t>
            </a:r>
            <a:pPr indent="0" marL="0">
              <a:buNone/>
            </a:pPr>
            <a:r>
              <a:rPr lang="en-US" sz="1500" b="1" dirty="0">
                <a:solidFill>
                  <a:srgbClr val="1F2937"/>
                </a:solidFill>
                <a:latin typeface="Calibri" pitchFamily="34" charset="0"/>
                <a:ea typeface="Calibri" pitchFamily="34" charset="-122"/>
                <a:cs typeface="Calibri" pitchFamily="34" charset="-120"/>
              </a:rPr>
              <a:t>The GPU's real clock (~99.8 MHz) is reachable only through an undocumented instruction (s_sendmsg_rtn GET_REALTIME).</a:t>
            </a:r>
            <a:endParaRPr lang="en-US" sz="1500" dirty="0"/>
          </a:p>
        </p:txBody>
      </p:sp>
      <p:sp>
        <p:nvSpPr>
          <p:cNvPr id="10" name="Text 8"/>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AMD Adrenalin driver 32.0.13070.1002, OpenCL platform AMD-APP 3640.0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420624" cy="420624"/>
          </a:xfrm>
          <a:prstGeom prst="ellipse">
            <a:avLst/>
          </a:prstGeom>
          <a:solidFill>
            <a:srgbClr val="F2A93B"/>
          </a:solidFill>
          <a:ln w="12700">
            <a:solidFill>
              <a:srgbClr val="F2A93B"/>
            </a:solidFill>
            <a:prstDash val="solid"/>
          </a:ln>
        </p:spPr>
      </p:sp>
      <p:sp>
        <p:nvSpPr>
          <p:cNvPr id="3" name="Text 1"/>
          <p:cNvSpPr txBox="1"/>
          <p:nvPr/>
        </p:nvSpPr>
        <p:spPr>
          <a:xfrm>
            <a:off x="457200" y="411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mbria" pitchFamily="34" charset="0"/>
                <a:ea typeface="Cambria" pitchFamily="34" charset="-122"/>
                <a:cs typeface="Cambria" pitchFamily="34" charset="-120"/>
              </a:rPr>
              <a:t>2</a:t>
            </a:r>
            <a:endParaRPr lang="en-US" sz="1600" dirty="0"/>
          </a:p>
        </p:txBody>
      </p:sp>
      <p:sp>
        <p:nvSpPr>
          <p:cNvPr id="4" name="Text 2"/>
          <p:cNvSpPr txBox="1"/>
          <p:nvPr/>
        </p:nvSpPr>
        <p:spPr>
          <a:xfrm>
            <a:off x="1005840" y="274320"/>
            <a:ext cx="7680960" cy="685800"/>
          </a:xfrm>
          <a:prstGeom prst="rect">
            <a:avLst/>
          </a:prstGeom>
          <a:noFill/>
          <a:ln/>
        </p:spPr>
        <p:txBody>
          <a:bodyPr wrap="square" lIns="0" tIns="0" rIns="0" bIns="0" rtlCol="0" anchor="ctr"/>
          <a:lstStyle/>
          <a:p>
            <a:pPr indent="0" marL="0">
              <a:buNone/>
            </a:pPr>
            <a:r>
              <a:rPr lang="en-US" sz="2800" b="1" dirty="0">
                <a:solidFill>
                  <a:srgbClr val="0E1A2B"/>
                </a:solidFill>
                <a:latin typeface="Cambria" pitchFamily="34" charset="0"/>
                <a:ea typeface="Cambria" pitchFamily="34" charset="-122"/>
                <a:cs typeface="Cambria" pitchFamily="34" charset="-120"/>
              </a:rPr>
              <a:t>On this chip, GPU and CPU clocks are locked</a:t>
            </a:r>
            <a:endParaRPr lang="en-US" sz="2800" dirty="0"/>
          </a:p>
        </p:txBody>
      </p:sp>
      <p:graphicFrame>
        <p:nvGraphicFramePr>
          <p:cNvPr id="5" name="Chart 0" descr=""/>
          <p:cNvGraphicFramePr/>
          <p:nvPr/>
        </p:nvGraphicFramePr>
        <p:xfrm>
          <a:off x="457200" y="1097280"/>
          <a:ext cx="5303520"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26480" y="1188720"/>
            <a:ext cx="2560320" cy="731520"/>
          </a:xfrm>
          <a:prstGeom prst="rect">
            <a:avLst/>
          </a:prstGeom>
          <a:noFill/>
          <a:ln/>
        </p:spPr>
        <p:txBody>
          <a:bodyPr wrap="square" lIns="0" tIns="0" rIns="0" bIns="0" rtlCol="0" anchor="ctr"/>
          <a:lstStyle/>
          <a:p>
            <a:pPr indent="0" marL="0">
              <a:buNone/>
            </a:pPr>
            <a:r>
              <a:rPr lang="en-US" sz="4000" b="1" dirty="0">
                <a:solidFill>
                  <a:srgbClr val="2A9D8F"/>
                </a:solidFill>
                <a:latin typeface="Cambria" pitchFamily="34" charset="0"/>
                <a:ea typeface="Cambria" pitchFamily="34" charset="-122"/>
                <a:cs typeface="Cambria" pitchFamily="34" charset="-120"/>
              </a:rPr>
              <a:t>20 : 1</a:t>
            </a:r>
            <a:endParaRPr lang="en-US" sz="4000" dirty="0"/>
          </a:p>
        </p:txBody>
      </p:sp>
      <p:sp>
        <p:nvSpPr>
          <p:cNvPr id="7" name="Text 4"/>
          <p:cNvSpPr txBox="1"/>
          <p:nvPr/>
        </p:nvSpPr>
        <p:spPr>
          <a:xfrm>
            <a:off x="6126480" y="1938528"/>
            <a:ext cx="256032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CPU TSC (1996.2 MHz) to GPU clock (99.81 MHz), exact to 0.6 ppb: one shared source</a:t>
            </a:r>
            <a:endParaRPr lang="en-US" sz="1300" dirty="0"/>
          </a:p>
        </p:txBody>
      </p:sp>
      <p:sp>
        <p:nvSpPr>
          <p:cNvPr id="8" name="Text 5"/>
          <p:cNvSpPr txBox="1"/>
          <p:nvPr/>
        </p:nvSpPr>
        <p:spPr>
          <a:xfrm>
            <a:off x="6126480" y="2743200"/>
            <a:ext cx="2560320" cy="731520"/>
          </a:xfrm>
          <a:prstGeom prst="rect">
            <a:avLst/>
          </a:prstGeom>
          <a:noFill/>
          <a:ln/>
        </p:spPr>
        <p:txBody>
          <a:bodyPr wrap="square" lIns="0" tIns="0" rIns="0" bIns="0" rtlCol="0" anchor="ctr"/>
          <a:lstStyle/>
          <a:p>
            <a:pPr indent="0" marL="0">
              <a:buNone/>
            </a:pPr>
            <a:r>
              <a:rPr lang="en-US" sz="4000" b="1" dirty="0">
                <a:solidFill>
                  <a:srgbClr val="F2A93B"/>
                </a:solidFill>
                <a:latin typeface="Cambria" pitchFamily="34" charset="0"/>
                <a:ea typeface="Cambria" pitchFamily="34" charset="-122"/>
                <a:cs typeface="Cambria" pitchFamily="34" charset="-120"/>
              </a:rPr>
              <a:t>±9 ppb</a:t>
            </a:r>
            <a:endParaRPr lang="en-US" sz="4000" dirty="0"/>
          </a:p>
        </p:txBody>
      </p:sp>
      <p:sp>
        <p:nvSpPr>
          <p:cNvPr id="9" name="Text 6"/>
          <p:cNvSpPr txBox="1"/>
          <p:nvPr/>
        </p:nvSpPr>
        <p:spPr>
          <a:xfrm>
            <a:off x="6126480" y="3493008"/>
            <a:ext cx="256032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wander between them: the measurement noise floor, through load, sleep and GPU burn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420624" cy="420624"/>
          </a:xfrm>
          <a:prstGeom prst="ellipse">
            <a:avLst/>
          </a:prstGeom>
          <a:solidFill>
            <a:srgbClr val="F2A93B"/>
          </a:solidFill>
          <a:ln w="12700">
            <a:solidFill>
              <a:srgbClr val="F2A93B"/>
            </a:solidFill>
            <a:prstDash val="solid"/>
          </a:ln>
        </p:spPr>
      </p:sp>
      <p:sp>
        <p:nvSpPr>
          <p:cNvPr id="3" name="Text 1"/>
          <p:cNvSpPr txBox="1"/>
          <p:nvPr/>
        </p:nvSpPr>
        <p:spPr>
          <a:xfrm>
            <a:off x="457200" y="411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mbria" pitchFamily="34" charset="0"/>
                <a:ea typeface="Cambria" pitchFamily="34" charset="-122"/>
                <a:cs typeface="Cambria" pitchFamily="34" charset="-120"/>
              </a:rPr>
              <a:t>3</a:t>
            </a:r>
            <a:endParaRPr lang="en-US" sz="1600" dirty="0"/>
          </a:p>
        </p:txBody>
      </p:sp>
      <p:sp>
        <p:nvSpPr>
          <p:cNvPr id="4" name="Text 2"/>
          <p:cNvSpPr txBox="1"/>
          <p:nvPr/>
        </p:nvSpPr>
        <p:spPr>
          <a:xfrm>
            <a:off x="1005840" y="274320"/>
            <a:ext cx="7680960" cy="685800"/>
          </a:xfrm>
          <a:prstGeom prst="rect">
            <a:avLst/>
          </a:prstGeom>
          <a:noFill/>
          <a:ln/>
        </p:spPr>
        <p:txBody>
          <a:bodyPr wrap="square" lIns="0" tIns="0" rIns="0" bIns="0" rtlCol="0" anchor="ctr"/>
          <a:lstStyle/>
          <a:p>
            <a:pPr indent="0" marL="0">
              <a:buNone/>
            </a:pPr>
            <a:r>
              <a:rPr lang="en-US" sz="2800" b="1" dirty="0">
                <a:solidFill>
                  <a:srgbClr val="0E1A2B"/>
                </a:solidFill>
                <a:latin typeface="Cambria" pitchFamily="34" charset="0"/>
                <a:ea typeface="Cambria" pitchFamily="34" charset="-122"/>
                <a:cs typeface="Cambria" pitchFamily="34" charset="-120"/>
              </a:rPr>
              <a:t>Typical round trip is 10–150× the best case</a:t>
            </a:r>
            <a:endParaRPr lang="en-US" sz="2800" dirty="0"/>
          </a:p>
        </p:txBody>
      </p:sp>
      <p:graphicFrame>
        <p:nvGraphicFramePr>
          <p:cNvPr id="5" name="Chart 0" descr=""/>
          <p:cNvGraphicFramePr/>
          <p:nvPr/>
        </p:nvGraphicFramePr>
        <p:xfrm>
          <a:off x="365760" y="1097280"/>
          <a:ext cx="420624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663440" y="1097280"/>
          <a:ext cx="4206240" cy="338328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Tuning (other core, top priority) cuts the median from 56 µs to 20 µs under CPU load, but the millisecond tails stay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420624" cy="420624"/>
          </a:xfrm>
          <a:prstGeom prst="ellipse">
            <a:avLst/>
          </a:prstGeom>
          <a:solidFill>
            <a:srgbClr val="F2A93B"/>
          </a:solidFill>
          <a:ln w="12700">
            <a:solidFill>
              <a:srgbClr val="F2A93B"/>
            </a:solidFill>
            <a:prstDash val="solid"/>
          </a:ln>
        </p:spPr>
      </p:sp>
      <p:sp>
        <p:nvSpPr>
          <p:cNvPr id="3" name="Text 1"/>
          <p:cNvSpPr txBox="1"/>
          <p:nvPr/>
        </p:nvSpPr>
        <p:spPr>
          <a:xfrm>
            <a:off x="457200" y="411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mbria" pitchFamily="34" charset="0"/>
                <a:ea typeface="Cambria" pitchFamily="34" charset="-122"/>
                <a:cs typeface="Cambria" pitchFamily="34" charset="-120"/>
              </a:rPr>
              <a:t>4</a:t>
            </a:r>
            <a:endParaRPr lang="en-US" sz="1600" dirty="0"/>
          </a:p>
        </p:txBody>
      </p:sp>
      <p:sp>
        <p:nvSpPr>
          <p:cNvPr id="4" name="Text 2"/>
          <p:cNvSpPr txBox="1"/>
          <p:nvPr/>
        </p:nvSpPr>
        <p:spPr>
          <a:xfrm>
            <a:off x="1005840" y="274320"/>
            <a:ext cx="7680960" cy="685800"/>
          </a:xfrm>
          <a:prstGeom prst="rect">
            <a:avLst/>
          </a:prstGeom>
          <a:noFill/>
          <a:ln/>
        </p:spPr>
        <p:txBody>
          <a:bodyPr wrap="square" lIns="0" tIns="0" rIns="0" bIns="0" rtlCol="0" anchor="ctr"/>
          <a:lstStyle/>
          <a:p>
            <a:pPr indent="0" marL="0">
              <a:buNone/>
            </a:pPr>
            <a:r>
              <a:rPr lang="en-US" sz="2800" b="1" dirty="0">
                <a:solidFill>
                  <a:srgbClr val="0E1A2B"/>
                </a:solidFill>
                <a:latin typeface="Cambria" pitchFamily="34" charset="0"/>
                <a:ea typeface="Cambria" pitchFamily="34" charset="-122"/>
                <a:cs typeface="Cambria" pitchFamily="34" charset="-120"/>
              </a:rPr>
              <a:t>Where slow round trips lose their time</a:t>
            </a:r>
            <a:endParaRPr lang="en-US" sz="2800" dirty="0"/>
          </a:p>
        </p:txBody>
      </p:sp>
      <p:graphicFrame>
        <p:nvGraphicFramePr>
          <p:cNvPr id="5" name="Chart 0" descr=""/>
          <p:cNvGraphicFramePr/>
          <p:nvPr/>
        </p:nvGraphicFramePr>
        <p:xfrm>
          <a:off x="365760" y="109728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126480" y="1188720"/>
            <a:ext cx="2560320" cy="731520"/>
          </a:xfrm>
          <a:prstGeom prst="rect">
            <a:avLst/>
          </a:prstGeom>
          <a:noFill/>
          <a:ln/>
        </p:spPr>
        <p:txBody>
          <a:bodyPr wrap="square" lIns="0" tIns="0" rIns="0" bIns="0" rtlCol="0" anchor="ctr"/>
          <a:lstStyle/>
          <a:p>
            <a:pPr indent="0" marL="0">
              <a:buNone/>
            </a:pPr>
            <a:r>
              <a:rPr lang="en-US" sz="4000" b="1" dirty="0">
                <a:solidFill>
                  <a:srgbClr val="D1495B"/>
                </a:solidFill>
                <a:latin typeface="Cambria" pitchFamily="34" charset="0"/>
                <a:ea typeface="Cambria" pitchFamily="34" charset="-122"/>
                <a:cs typeface="Cambria" pitchFamily="34" charset="-120"/>
              </a:rPr>
              <a:t>54%</a:t>
            </a:r>
            <a:endParaRPr lang="en-US" sz="4000" dirty="0"/>
          </a:p>
        </p:txBody>
      </p:sp>
      <p:sp>
        <p:nvSpPr>
          <p:cNvPr id="7" name="Text 4"/>
          <p:cNvSpPr txBox="1"/>
          <p:nvPr/>
        </p:nvSpPr>
        <p:spPr>
          <a:xfrm>
            <a:off x="6126480" y="1938528"/>
            <a:ext cx="256032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of round trips took &gt; 20 µs even in the plain tight loop. The return path dominates, except when the GPU was asleep</a:t>
            </a:r>
            <a:endParaRPr lang="en-US" sz="1300" dirty="0"/>
          </a:p>
        </p:txBody>
      </p:sp>
      <p:sp>
        <p:nvSpPr>
          <p:cNvPr id="8" name="Text 5"/>
          <p:cNvSpPr txBox="1"/>
          <p:nvPr/>
        </p:nvSpPr>
        <p:spPr>
          <a:xfrm>
            <a:off x="6126480" y="2743200"/>
            <a:ext cx="2560320" cy="731520"/>
          </a:xfrm>
          <a:prstGeom prst="rect">
            <a:avLst/>
          </a:prstGeom>
          <a:noFill/>
          <a:ln/>
        </p:spPr>
        <p:txBody>
          <a:bodyPr wrap="square" lIns="0" tIns="0" rIns="0" bIns="0" rtlCol="0" anchor="ctr"/>
          <a:lstStyle/>
          <a:p>
            <a:pPr indent="0" marL="0">
              <a:buNone/>
            </a:pPr>
            <a:r>
              <a:rPr lang="en-US" sz="4000" b="1" dirty="0">
                <a:solidFill>
                  <a:srgbClr val="F2A93B"/>
                </a:solidFill>
                <a:latin typeface="Cambria" pitchFamily="34" charset="0"/>
                <a:ea typeface="Cambria" pitchFamily="34" charset="-122"/>
                <a:cs typeface="Cambria" pitchFamily="34" charset="-120"/>
              </a:rPr>
              <a:t>39.9 ms</a:t>
            </a:r>
            <a:endParaRPr lang="en-US" sz="4000" dirty="0"/>
          </a:p>
        </p:txBody>
      </p:sp>
      <p:sp>
        <p:nvSpPr>
          <p:cNvPr id="9" name="Text 6"/>
          <p:cNvSpPr txBox="1"/>
          <p:nvPr/>
        </p:nvSpPr>
        <p:spPr>
          <a:xfrm>
            <a:off x="6126480" y="3493008"/>
            <a:ext cx="2560320" cy="6400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longest single stall. Suspect: the iGPU also drives the display and gets time-sliced (not yet proven)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457200" y="411480"/>
            <a:ext cx="420624" cy="420624"/>
          </a:xfrm>
          <a:prstGeom prst="ellipse">
            <a:avLst/>
          </a:prstGeom>
          <a:solidFill>
            <a:srgbClr val="F2A93B"/>
          </a:solidFill>
          <a:ln w="12700">
            <a:solidFill>
              <a:srgbClr val="F2A93B"/>
            </a:solidFill>
            <a:prstDash val="solid"/>
          </a:ln>
        </p:spPr>
      </p:sp>
      <p:sp>
        <p:nvSpPr>
          <p:cNvPr id="3" name="Text 1"/>
          <p:cNvSpPr txBox="1"/>
          <p:nvPr/>
        </p:nvSpPr>
        <p:spPr>
          <a:xfrm>
            <a:off x="457200" y="411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mbria" pitchFamily="34" charset="0"/>
                <a:ea typeface="Cambria" pitchFamily="34" charset="-122"/>
                <a:cs typeface="Cambria" pitchFamily="34" charset="-120"/>
              </a:rPr>
              <a:t>5</a:t>
            </a:r>
            <a:endParaRPr lang="en-US" sz="1600" dirty="0"/>
          </a:p>
        </p:txBody>
      </p:sp>
      <p:sp>
        <p:nvSpPr>
          <p:cNvPr id="4" name="Text 2"/>
          <p:cNvSpPr txBox="1"/>
          <p:nvPr/>
        </p:nvSpPr>
        <p:spPr>
          <a:xfrm>
            <a:off x="1005840" y="274320"/>
            <a:ext cx="768096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Nothing in the machine can referee</a:t>
            </a:r>
            <a:endParaRPr lang="en-US" sz="2800" dirty="0"/>
          </a:p>
        </p:txBody>
      </p:sp>
      <p:sp>
        <p:nvSpPr>
          <p:cNvPr id="5" name="Text 3"/>
          <p:cNvSpPr txBox="1"/>
          <p:nvPr/>
        </p:nvSpPr>
        <p:spPr>
          <a:xfrm>
            <a:off x="457200" y="1188720"/>
            <a:ext cx="8229600" cy="822960"/>
          </a:xfrm>
          <a:prstGeom prst="rect">
            <a:avLst/>
          </a:prstGeom>
          <a:noFill/>
          <a:ln/>
        </p:spPr>
        <p:txBody>
          <a:bodyPr wrap="square" lIns="0" tIns="0" rIns="0" bIns="0" rtlCol="0" anchor="ctr"/>
          <a:lstStyle/>
          <a:p>
            <a:pPr indent="0" marL="0">
              <a:buNone/>
            </a:pPr>
            <a:r>
              <a:rPr lang="en-US" sz="1600" dirty="0">
                <a:solidFill>
                  <a:srgbClr val="C9D6EA"/>
                </a:solidFill>
                <a:latin typeface="Calibri" pitchFamily="34" charset="0"/>
                <a:ea typeface="Calibri" pitchFamily="34" charset="-122"/>
                <a:cs typeface="Calibri" pitchFamily="34" charset="-120"/>
              </a:rPr>
              <a:t>CPU and GPU agree perfectly, yet both run 1897 ppm slow against Windows' own timer (QPC). Which is right? Every clock here comes from a cheap crystal on one board, so nothing can referee.</a:t>
            </a:r>
            <a:endParaRPr lang="en-US" sz="1600" dirty="0"/>
          </a:p>
        </p:txBody>
      </p:sp>
      <p:sp>
        <p:nvSpPr>
          <p:cNvPr id="6" name="Shape 4"/>
          <p:cNvSpPr/>
          <p:nvPr/>
        </p:nvSpPr>
        <p:spPr>
          <a:xfrm>
            <a:off x="457200" y="2240280"/>
            <a:ext cx="2606040" cy="2103120"/>
          </a:xfrm>
          <a:prstGeom prst="roundRect">
            <a:avLst>
              <a:gd name="adj" fmla="val 3478"/>
            </a:avLst>
          </a:prstGeom>
          <a:solidFill>
            <a:srgbClr val="1B2B44"/>
          </a:solidFill>
          <a:ln w="12700">
            <a:solidFill>
              <a:srgbClr val="1B2B44"/>
            </a:solidFill>
            <a:prstDash val="solid"/>
          </a:ln>
        </p:spPr>
      </p:sp>
      <p:sp>
        <p:nvSpPr>
          <p:cNvPr id="7" name="Text 5"/>
          <p:cNvSpPr txBox="1"/>
          <p:nvPr/>
        </p:nvSpPr>
        <p:spPr>
          <a:xfrm>
            <a:off x="640080" y="2377440"/>
            <a:ext cx="2240280" cy="457200"/>
          </a:xfrm>
          <a:prstGeom prst="rect">
            <a:avLst/>
          </a:prstGeom>
          <a:noFill/>
          <a:ln/>
        </p:spPr>
        <p:txBody>
          <a:bodyPr wrap="square" lIns="0" tIns="0" rIns="0" bIns="0" rtlCol="0" anchor="ctr"/>
          <a:lstStyle/>
          <a:p>
            <a:pPr indent="0" marL="0">
              <a:buNone/>
            </a:pPr>
            <a:r>
              <a:rPr lang="en-US" sz="1700" b="1" dirty="0">
                <a:solidFill>
                  <a:srgbClr val="2A9D8F"/>
                </a:solidFill>
                <a:latin typeface="Cambria" pitchFamily="34" charset="0"/>
                <a:ea typeface="Cambria" pitchFamily="34" charset="-122"/>
                <a:cs typeface="Cambria" pitchFamily="34" charset="-120"/>
              </a:rPr>
              <a:t>We can measure</a:t>
            </a:r>
            <a:endParaRPr lang="en-US" sz="1700" dirty="0"/>
          </a:p>
        </p:txBody>
      </p:sp>
      <p:sp>
        <p:nvSpPr>
          <p:cNvPr id="8" name="Text 6"/>
          <p:cNvSpPr txBox="1"/>
          <p:nvPr/>
        </p:nvSpPr>
        <p:spPr>
          <a:xfrm>
            <a:off x="640080" y="2834640"/>
            <a:ext cx="2240280" cy="1417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ratio between two clocks, and how tightly a read can be bracketed</a:t>
            </a:r>
            <a:endParaRPr lang="en-US" sz="1300" dirty="0"/>
          </a:p>
        </p:txBody>
      </p:sp>
      <p:sp>
        <p:nvSpPr>
          <p:cNvPr id="9" name="Shape 7"/>
          <p:cNvSpPr/>
          <p:nvPr/>
        </p:nvSpPr>
        <p:spPr>
          <a:xfrm>
            <a:off x="3268980" y="2240280"/>
            <a:ext cx="2606040" cy="2103120"/>
          </a:xfrm>
          <a:prstGeom prst="roundRect">
            <a:avLst>
              <a:gd name="adj" fmla="val 3478"/>
            </a:avLst>
          </a:prstGeom>
          <a:solidFill>
            <a:srgbClr val="1B2B44"/>
          </a:solidFill>
          <a:ln w="12700">
            <a:solidFill>
              <a:srgbClr val="1B2B44"/>
            </a:solidFill>
            <a:prstDash val="solid"/>
          </a:ln>
        </p:spPr>
      </p:sp>
      <p:sp>
        <p:nvSpPr>
          <p:cNvPr id="10" name="Text 8"/>
          <p:cNvSpPr txBox="1"/>
          <p:nvPr/>
        </p:nvSpPr>
        <p:spPr>
          <a:xfrm>
            <a:off x="3451860" y="2377440"/>
            <a:ext cx="2240280" cy="457200"/>
          </a:xfrm>
          <a:prstGeom prst="rect">
            <a:avLst/>
          </a:prstGeom>
          <a:noFill/>
          <a:ln/>
        </p:spPr>
        <p:txBody>
          <a:bodyPr wrap="square" lIns="0" tIns="0" rIns="0" bIns="0" rtlCol="0" anchor="ctr"/>
          <a:lstStyle/>
          <a:p>
            <a:pPr indent="0" marL="0">
              <a:buNone/>
            </a:pPr>
            <a:r>
              <a:rPr lang="en-US" sz="1700" b="1" dirty="0">
                <a:solidFill>
                  <a:srgbClr val="D1495B"/>
                </a:solidFill>
                <a:latin typeface="Cambria" pitchFamily="34" charset="0"/>
                <a:ea typeface="Cambria" pitchFamily="34" charset="-122"/>
                <a:cs typeface="Cambria" pitchFamily="34" charset="-120"/>
              </a:rPr>
              <a:t>We cannot measure</a:t>
            </a:r>
            <a:endParaRPr lang="en-US" sz="1700" dirty="0"/>
          </a:p>
        </p:txBody>
      </p:sp>
      <p:sp>
        <p:nvSpPr>
          <p:cNvPr id="11" name="Text 9"/>
          <p:cNvSpPr txBox="1"/>
          <p:nvPr/>
        </p:nvSpPr>
        <p:spPr>
          <a:xfrm>
            <a:off x="3451860" y="2834640"/>
            <a:ext cx="2240280" cy="1417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which clock is wrong, or drift that both clocks share (temperature, ageing)</a:t>
            </a:r>
            <a:endParaRPr lang="en-US" sz="1300" dirty="0"/>
          </a:p>
        </p:txBody>
      </p:sp>
      <p:sp>
        <p:nvSpPr>
          <p:cNvPr id="12" name="Shape 10"/>
          <p:cNvSpPr/>
          <p:nvPr/>
        </p:nvSpPr>
        <p:spPr>
          <a:xfrm>
            <a:off x="6080760" y="2240280"/>
            <a:ext cx="2606040" cy="2103120"/>
          </a:xfrm>
          <a:prstGeom prst="roundRect">
            <a:avLst>
              <a:gd name="adj" fmla="val 3478"/>
            </a:avLst>
          </a:prstGeom>
          <a:solidFill>
            <a:srgbClr val="1B2B44"/>
          </a:solidFill>
          <a:ln w="12700">
            <a:solidFill>
              <a:srgbClr val="1B2B44"/>
            </a:solidFill>
            <a:prstDash val="solid"/>
          </a:ln>
        </p:spPr>
      </p:sp>
      <p:sp>
        <p:nvSpPr>
          <p:cNvPr id="13" name="Text 11"/>
          <p:cNvSpPr txBox="1"/>
          <p:nvPr/>
        </p:nvSpPr>
        <p:spPr>
          <a:xfrm>
            <a:off x="6263640" y="2377440"/>
            <a:ext cx="2240280" cy="457200"/>
          </a:xfrm>
          <a:prstGeom prst="rect">
            <a:avLst/>
          </a:prstGeom>
          <a:noFill/>
          <a:ln/>
        </p:spPr>
        <p:txBody>
          <a:bodyPr wrap="square" lIns="0" tIns="0" rIns="0" bIns="0" rtlCol="0" anchor="ctr"/>
          <a:lstStyle/>
          <a:p>
            <a:pPr indent="0" marL="0">
              <a:buNone/>
            </a:pPr>
            <a:r>
              <a:rPr lang="en-US" sz="1700" b="1" dirty="0">
                <a:solidFill>
                  <a:srgbClr val="F2A93B"/>
                </a:solidFill>
                <a:latin typeface="Cambria" pitchFamily="34" charset="0"/>
                <a:ea typeface="Cambria" pitchFamily="34" charset="-122"/>
                <a:cs typeface="Cambria" pitchFamily="34" charset="-120"/>
              </a:rPr>
              <a:t>The fix</a:t>
            </a:r>
            <a:endParaRPr lang="en-US" sz="1700" dirty="0"/>
          </a:p>
        </p:txBody>
      </p:sp>
      <p:sp>
        <p:nvSpPr>
          <p:cNvPr id="14" name="Text 12"/>
          <p:cNvSpPr txBox="1"/>
          <p:nvPr/>
        </p:nvSpPr>
        <p:spPr>
          <a:xfrm>
            <a:off x="6263640" y="2834640"/>
            <a:ext cx="2240280" cy="1417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an external reference ≥10× more stable than either: an oven-controlled crystal (OCXO), disciplined by GPS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Proposed MSc project: a hardware time referee</a:t>
            </a:r>
            <a:endParaRPr lang="en-US" sz="3000" dirty="0"/>
          </a:p>
        </p:txBody>
      </p:sp>
      <p:sp>
        <p:nvSpPr>
          <p:cNvPr id="3" name="Shape 1"/>
          <p:cNvSpPr/>
          <p:nvPr/>
        </p:nvSpPr>
        <p:spPr>
          <a:xfrm>
            <a:off x="365760" y="1234440"/>
            <a:ext cx="1508760" cy="1417320"/>
          </a:xfrm>
          <a:prstGeom prst="roundRect">
            <a:avLst>
              <a:gd name="adj" fmla="val 5161"/>
            </a:avLst>
          </a:prstGeom>
          <a:solidFill>
            <a:srgbClr val="F3F5F8"/>
          </a:solidFill>
          <a:ln w="12700">
            <a:solidFill>
              <a:srgbClr val="F3F5F8"/>
            </a:solidFill>
            <a:prstDash val="solid"/>
          </a:ln>
        </p:spPr>
      </p:sp>
      <p:sp>
        <p:nvSpPr>
          <p:cNvPr id="4" name="Text 2"/>
          <p:cNvSpPr txBox="1"/>
          <p:nvPr/>
        </p:nvSpPr>
        <p:spPr>
          <a:xfrm>
            <a:off x="475488" y="1325880"/>
            <a:ext cx="1289304" cy="411480"/>
          </a:xfrm>
          <a:prstGeom prst="rect">
            <a:avLst/>
          </a:prstGeom>
          <a:noFill/>
          <a:ln/>
        </p:spPr>
        <p:txBody>
          <a:bodyPr wrap="square" lIns="0" tIns="0" rIns="0" bIns="0" rtlCol="0" anchor="ctr"/>
          <a:lstStyle/>
          <a:p>
            <a:pPr algn="ctr" indent="0" marL="0">
              <a:buNone/>
            </a:pPr>
            <a:r>
              <a:rPr lang="en-US" sz="1400" b="1" dirty="0">
                <a:solidFill>
                  <a:srgbClr val="0E1A2B"/>
                </a:solidFill>
                <a:latin typeface="Cambria" pitchFamily="34" charset="0"/>
                <a:ea typeface="Cambria" pitchFamily="34" charset="-122"/>
                <a:cs typeface="Cambria" pitchFamily="34" charset="-120"/>
              </a:rPr>
              <a:t>GPS antenna</a:t>
            </a:r>
            <a:endParaRPr lang="en-US" sz="1400" dirty="0"/>
          </a:p>
        </p:txBody>
      </p:sp>
      <p:sp>
        <p:nvSpPr>
          <p:cNvPr id="5" name="Text 3"/>
          <p:cNvSpPr txBox="1"/>
          <p:nvPr/>
        </p:nvSpPr>
        <p:spPr>
          <a:xfrm>
            <a:off x="475488" y="1737360"/>
            <a:ext cx="1289304" cy="82296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true time, 1 PPS</a:t>
            </a:r>
            <a:endParaRPr lang="en-US" sz="1100" dirty="0"/>
          </a:p>
        </p:txBody>
      </p:sp>
      <p:sp>
        <p:nvSpPr>
          <p:cNvPr id="6" name="Shape 4"/>
          <p:cNvSpPr/>
          <p:nvPr/>
        </p:nvSpPr>
        <p:spPr>
          <a:xfrm>
            <a:off x="1892808" y="1938528"/>
            <a:ext cx="192024" cy="0"/>
          </a:xfrm>
          <a:prstGeom prst="line">
            <a:avLst/>
          </a:prstGeom>
          <a:noFill/>
          <a:ln w="19050">
            <a:solidFill>
              <a:srgbClr val="0E1A2B"/>
            </a:solidFill>
            <a:prstDash val="solid"/>
            <a:tailEnd type="triangle"/>
          </a:ln>
        </p:spPr>
      </p:sp>
      <p:sp>
        <p:nvSpPr>
          <p:cNvPr id="7" name="Shape 5"/>
          <p:cNvSpPr/>
          <p:nvPr/>
        </p:nvSpPr>
        <p:spPr>
          <a:xfrm>
            <a:off x="2103120" y="1234440"/>
            <a:ext cx="1508760" cy="1417320"/>
          </a:xfrm>
          <a:prstGeom prst="roundRect">
            <a:avLst>
              <a:gd name="adj" fmla="val 5161"/>
            </a:avLst>
          </a:prstGeom>
          <a:solidFill>
            <a:srgbClr val="FCE7C8"/>
          </a:solidFill>
          <a:ln w="12700">
            <a:solidFill>
              <a:srgbClr val="FCE7C8"/>
            </a:solidFill>
            <a:prstDash val="solid"/>
          </a:ln>
        </p:spPr>
      </p:sp>
      <p:sp>
        <p:nvSpPr>
          <p:cNvPr id="8" name="Text 6"/>
          <p:cNvSpPr txBox="1"/>
          <p:nvPr/>
        </p:nvSpPr>
        <p:spPr>
          <a:xfrm>
            <a:off x="2212848" y="1325880"/>
            <a:ext cx="1289304" cy="411480"/>
          </a:xfrm>
          <a:prstGeom prst="rect">
            <a:avLst/>
          </a:prstGeom>
          <a:noFill/>
          <a:ln/>
        </p:spPr>
        <p:txBody>
          <a:bodyPr wrap="square" lIns="0" tIns="0" rIns="0" bIns="0" rtlCol="0" anchor="ctr"/>
          <a:lstStyle/>
          <a:p>
            <a:pPr algn="ctr" indent="0" marL="0">
              <a:buNone/>
            </a:pPr>
            <a:r>
              <a:rPr lang="en-US" sz="1400" b="1" dirty="0">
                <a:solidFill>
                  <a:srgbClr val="0E1A2B"/>
                </a:solidFill>
                <a:latin typeface="Cambria" pitchFamily="34" charset="0"/>
                <a:ea typeface="Cambria" pitchFamily="34" charset="-122"/>
                <a:cs typeface="Cambria" pitchFamily="34" charset="-120"/>
              </a:rPr>
              <a:t>OCXO board</a:t>
            </a:r>
            <a:endParaRPr lang="en-US" sz="1400" dirty="0"/>
          </a:p>
        </p:txBody>
      </p:sp>
      <p:sp>
        <p:nvSpPr>
          <p:cNvPr id="9" name="Text 7"/>
          <p:cNvSpPr txBox="1"/>
          <p:nvPr/>
        </p:nvSpPr>
        <p:spPr>
          <a:xfrm>
            <a:off x="2212848" y="1737360"/>
            <a:ext cx="1289304" cy="82296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my PCB (KiCad): 10 MHz + PPS</a:t>
            </a:r>
            <a:endParaRPr lang="en-US" sz="1100" dirty="0"/>
          </a:p>
        </p:txBody>
      </p:sp>
      <p:sp>
        <p:nvSpPr>
          <p:cNvPr id="10" name="Shape 8"/>
          <p:cNvSpPr/>
          <p:nvPr/>
        </p:nvSpPr>
        <p:spPr>
          <a:xfrm>
            <a:off x="3630168" y="1938528"/>
            <a:ext cx="192024" cy="0"/>
          </a:xfrm>
          <a:prstGeom prst="line">
            <a:avLst/>
          </a:prstGeom>
          <a:noFill/>
          <a:ln w="19050">
            <a:solidFill>
              <a:srgbClr val="0E1A2B"/>
            </a:solidFill>
            <a:prstDash val="solid"/>
            <a:tailEnd type="triangle"/>
          </a:ln>
        </p:spPr>
      </p:sp>
      <p:sp>
        <p:nvSpPr>
          <p:cNvPr id="11" name="Shape 9"/>
          <p:cNvSpPr/>
          <p:nvPr/>
        </p:nvSpPr>
        <p:spPr>
          <a:xfrm>
            <a:off x="3840480" y="1234440"/>
            <a:ext cx="1508760" cy="1417320"/>
          </a:xfrm>
          <a:prstGeom prst="roundRect">
            <a:avLst>
              <a:gd name="adj" fmla="val 5161"/>
            </a:avLst>
          </a:prstGeom>
          <a:solidFill>
            <a:srgbClr val="F3F5F8"/>
          </a:solidFill>
          <a:ln w="12700">
            <a:solidFill>
              <a:srgbClr val="F3F5F8"/>
            </a:solidFill>
            <a:prstDash val="solid"/>
          </a:ln>
        </p:spPr>
      </p:sp>
      <p:sp>
        <p:nvSpPr>
          <p:cNvPr id="12" name="Text 10"/>
          <p:cNvSpPr txBox="1"/>
          <p:nvPr/>
        </p:nvSpPr>
        <p:spPr>
          <a:xfrm>
            <a:off x="3950208" y="1325880"/>
            <a:ext cx="1289304" cy="411480"/>
          </a:xfrm>
          <a:prstGeom prst="rect">
            <a:avLst/>
          </a:prstGeom>
          <a:noFill/>
          <a:ln/>
        </p:spPr>
        <p:txBody>
          <a:bodyPr wrap="square" lIns="0" tIns="0" rIns="0" bIns="0" rtlCol="0" anchor="ctr"/>
          <a:lstStyle/>
          <a:p>
            <a:pPr algn="ctr" indent="0" marL="0">
              <a:buNone/>
            </a:pPr>
            <a:r>
              <a:rPr lang="en-US" sz="1400" b="1" dirty="0">
                <a:solidFill>
                  <a:srgbClr val="0E1A2B"/>
                </a:solidFill>
                <a:latin typeface="Cambria" pitchFamily="34" charset="0"/>
                <a:ea typeface="Cambria" pitchFamily="34" charset="-122"/>
                <a:cs typeface="Cambria" pitchFamily="34" charset="-120"/>
              </a:rPr>
              <a:t>FPGA PCIe card</a:t>
            </a:r>
            <a:endParaRPr lang="en-US" sz="1400" dirty="0"/>
          </a:p>
        </p:txBody>
      </p:sp>
      <p:sp>
        <p:nvSpPr>
          <p:cNvPr id="13" name="Text 11"/>
          <p:cNvSpPr txBox="1"/>
          <p:nvPr/>
        </p:nvSpPr>
        <p:spPr>
          <a:xfrm>
            <a:off x="3950208" y="1737360"/>
            <a:ext cx="1289304" cy="82296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counter on OCXO clock, DMA timestamps</a:t>
            </a:r>
            <a:endParaRPr lang="en-US" sz="1100" dirty="0"/>
          </a:p>
        </p:txBody>
      </p:sp>
      <p:sp>
        <p:nvSpPr>
          <p:cNvPr id="14" name="Shape 12"/>
          <p:cNvSpPr/>
          <p:nvPr/>
        </p:nvSpPr>
        <p:spPr>
          <a:xfrm>
            <a:off x="5367528" y="1938528"/>
            <a:ext cx="192024" cy="0"/>
          </a:xfrm>
          <a:prstGeom prst="line">
            <a:avLst/>
          </a:prstGeom>
          <a:noFill/>
          <a:ln w="19050">
            <a:solidFill>
              <a:srgbClr val="0E1A2B"/>
            </a:solidFill>
            <a:prstDash val="solid"/>
            <a:tailEnd type="triangle"/>
          </a:ln>
        </p:spPr>
      </p:sp>
      <p:sp>
        <p:nvSpPr>
          <p:cNvPr id="15" name="Shape 13"/>
          <p:cNvSpPr/>
          <p:nvPr/>
        </p:nvSpPr>
        <p:spPr>
          <a:xfrm>
            <a:off x="5577840" y="1234440"/>
            <a:ext cx="1508760" cy="1417320"/>
          </a:xfrm>
          <a:prstGeom prst="roundRect">
            <a:avLst>
              <a:gd name="adj" fmla="val 5161"/>
            </a:avLst>
          </a:prstGeom>
          <a:solidFill>
            <a:srgbClr val="F3F5F8"/>
          </a:solidFill>
          <a:ln w="12700">
            <a:solidFill>
              <a:srgbClr val="F3F5F8"/>
            </a:solidFill>
            <a:prstDash val="solid"/>
          </a:ln>
        </p:spPr>
      </p:sp>
      <p:sp>
        <p:nvSpPr>
          <p:cNvPr id="16" name="Text 14"/>
          <p:cNvSpPr txBox="1"/>
          <p:nvPr/>
        </p:nvSpPr>
        <p:spPr>
          <a:xfrm>
            <a:off x="5687568" y="1325880"/>
            <a:ext cx="1289304" cy="411480"/>
          </a:xfrm>
          <a:prstGeom prst="rect">
            <a:avLst/>
          </a:prstGeom>
          <a:noFill/>
          <a:ln/>
        </p:spPr>
        <p:txBody>
          <a:bodyPr wrap="square" lIns="0" tIns="0" rIns="0" bIns="0" rtlCol="0" anchor="ctr"/>
          <a:lstStyle/>
          <a:p>
            <a:pPr algn="ctr" indent="0" marL="0">
              <a:buNone/>
            </a:pPr>
            <a:r>
              <a:rPr lang="en-US" sz="1400" b="1" dirty="0">
                <a:solidFill>
                  <a:srgbClr val="0E1A2B"/>
                </a:solidFill>
                <a:latin typeface="Cambria" pitchFamily="34" charset="0"/>
                <a:ea typeface="Cambria" pitchFamily="34" charset="-122"/>
                <a:cs typeface="Cambria" pitchFamily="34" charset="-120"/>
              </a:rPr>
              <a:t>Host RAM</a:t>
            </a:r>
            <a:endParaRPr lang="en-US" sz="1400" dirty="0"/>
          </a:p>
        </p:txBody>
      </p:sp>
      <p:sp>
        <p:nvSpPr>
          <p:cNvPr id="17" name="Text 15"/>
          <p:cNvSpPr txBox="1"/>
          <p:nvPr/>
        </p:nvSpPr>
        <p:spPr>
          <a:xfrm>
            <a:off x="5687568" y="1737360"/>
            <a:ext cx="1289304" cy="82296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"true time = T" updated constantly</a:t>
            </a:r>
            <a:endParaRPr lang="en-US" sz="1100" dirty="0"/>
          </a:p>
        </p:txBody>
      </p:sp>
      <p:sp>
        <p:nvSpPr>
          <p:cNvPr id="18" name="Shape 16"/>
          <p:cNvSpPr/>
          <p:nvPr/>
        </p:nvSpPr>
        <p:spPr>
          <a:xfrm>
            <a:off x="7104888" y="1938528"/>
            <a:ext cx="192024" cy="0"/>
          </a:xfrm>
          <a:prstGeom prst="line">
            <a:avLst/>
          </a:prstGeom>
          <a:noFill/>
          <a:ln w="19050">
            <a:solidFill>
              <a:srgbClr val="0E1A2B"/>
            </a:solidFill>
            <a:prstDash val="solid"/>
            <a:tailEnd type="triangle"/>
          </a:ln>
        </p:spPr>
      </p:sp>
      <p:sp>
        <p:nvSpPr>
          <p:cNvPr id="19" name="Shape 17"/>
          <p:cNvSpPr/>
          <p:nvPr/>
        </p:nvSpPr>
        <p:spPr>
          <a:xfrm>
            <a:off x="7315200" y="1234440"/>
            <a:ext cx="1508760" cy="1417320"/>
          </a:xfrm>
          <a:prstGeom prst="roundRect">
            <a:avLst>
              <a:gd name="adj" fmla="val 5161"/>
            </a:avLst>
          </a:prstGeom>
          <a:solidFill>
            <a:srgbClr val="D5EFEA"/>
          </a:solidFill>
          <a:ln w="12700">
            <a:solidFill>
              <a:srgbClr val="D5EFEA"/>
            </a:solidFill>
            <a:prstDash val="solid"/>
          </a:ln>
        </p:spPr>
      </p:sp>
      <p:sp>
        <p:nvSpPr>
          <p:cNvPr id="20" name="Text 18"/>
          <p:cNvSpPr txBox="1"/>
          <p:nvPr/>
        </p:nvSpPr>
        <p:spPr>
          <a:xfrm>
            <a:off x="7424928" y="1325880"/>
            <a:ext cx="1289304" cy="411480"/>
          </a:xfrm>
          <a:prstGeom prst="rect">
            <a:avLst/>
          </a:prstGeom>
          <a:noFill/>
          <a:ln/>
        </p:spPr>
        <p:txBody>
          <a:bodyPr wrap="square" lIns="0" tIns="0" rIns="0" bIns="0" rtlCol="0" anchor="ctr"/>
          <a:lstStyle/>
          <a:p>
            <a:pPr algn="ctr" indent="0" marL="0">
              <a:buNone/>
            </a:pPr>
            <a:r>
              <a:rPr lang="en-US" sz="1400" b="1" dirty="0">
                <a:solidFill>
                  <a:srgbClr val="0E1A2B"/>
                </a:solidFill>
                <a:latin typeface="Cambria" pitchFamily="34" charset="0"/>
                <a:ea typeface="Cambria" pitchFamily="34" charset="-122"/>
                <a:cs typeface="Cambria" pitchFamily="34" charset="-120"/>
              </a:rPr>
              <a:t>CPU + GPU</a:t>
            </a:r>
            <a:endParaRPr lang="en-US" sz="1400" dirty="0"/>
          </a:p>
        </p:txBody>
      </p:sp>
      <p:sp>
        <p:nvSpPr>
          <p:cNvPr id="21" name="Text 19"/>
          <p:cNvSpPr txBox="1"/>
          <p:nvPr/>
        </p:nvSpPr>
        <p:spPr>
          <a:xfrm>
            <a:off x="7424928" y="1737360"/>
            <a:ext cx="1289304" cy="82296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both read T and their own clock</a:t>
            </a:r>
            <a:endParaRPr lang="en-US" sz="1100" dirty="0"/>
          </a:p>
        </p:txBody>
      </p:sp>
      <p:sp>
        <p:nvSpPr>
          <p:cNvPr id="22" name="Text 20"/>
          <p:cNvSpPr txBox="1"/>
          <p:nvPr/>
        </p:nvSpPr>
        <p:spPr>
          <a:xfrm>
            <a:off x="457200" y="2971800"/>
            <a:ext cx="8229600" cy="320040"/>
          </a:xfrm>
          <a:prstGeom prst="rect">
            <a:avLst/>
          </a:prstGeom>
          <a:noFill/>
          <a:ln/>
        </p:spPr>
        <p:txBody>
          <a:bodyPr wrap="square" lIns="0" tIns="0" rIns="0" bIns="0" rtlCol="0" anchor="ctr"/>
          <a:lstStyle/>
          <a:p>
            <a:pPr indent="0" marL="0">
              <a:buNone/>
            </a:pPr>
            <a:r>
              <a:rPr lang="en-US" sz="1300" b="1" dirty="0">
                <a:solidFill>
                  <a:srgbClr val="F2A93B"/>
                </a:solidFill>
                <a:latin typeface="Calibri" pitchFamily="34" charset="0"/>
                <a:ea typeface="Calibri" pitchFamily="34" charset="-122"/>
                <a:cs typeface="Calibri" pitchFamily="34" charset="-120"/>
              </a:rPr>
              <a:t>Research question</a:t>
            </a:r>
            <a:endParaRPr lang="en-US" sz="1300" dirty="0"/>
          </a:p>
        </p:txBody>
      </p:sp>
      <p:sp>
        <p:nvSpPr>
          <p:cNvPr id="23" name="Text 21"/>
          <p:cNvSpPr txBox="1"/>
          <p:nvPr/>
        </p:nvSpPr>
        <p:spPr>
          <a:xfrm>
            <a:off x="457200" y="3291840"/>
            <a:ext cx="8229600" cy="777240"/>
          </a:xfrm>
          <a:prstGeom prst="rect">
            <a:avLst/>
          </a:prstGeom>
          <a:noFill/>
          <a:ln/>
        </p:spPr>
        <p:txBody>
          <a:bodyPr wrap="square" lIns="0" tIns="0" rIns="0" bIns="0" rtlCol="0" anchor="ctr"/>
          <a:lstStyle/>
          <a:p>
            <a:pPr indent="0" marL="0">
              <a:buNone/>
            </a:pPr>
            <a:r>
              <a:rPr lang="en-US" sz="1800" dirty="0">
                <a:solidFill>
                  <a:srgbClr val="0E1A2B"/>
                </a:solidFill>
                <a:latin typeface="Cambria" pitchFamily="34" charset="0"/>
                <a:ea typeface="Cambria" pitchFamily="34" charset="-122"/>
                <a:cs typeface="Cambria" pitchFamily="34" charset="-120"/>
              </a:rPr>
              <a:t>How accurately can code on a GPU know true time, and does a PCIe hardware reference beat software CPU–GPU correlation under real load?</a:t>
            </a:r>
            <a:endParaRPr lang="en-US" sz="1800" dirty="0"/>
          </a:p>
        </p:txBody>
      </p:sp>
      <p:sp>
        <p:nvSpPr>
          <p:cNvPr id="24" name="Text 22"/>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Target platform: desktop with NVIDIA RTX (%globaltimer) · GeForce lacks official GPUDirect RDMA, so the card talks to the GPU via host memory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1A2B"/>
                </a:solidFill>
                <a:latin typeface="Cambria" pitchFamily="34" charset="0"/>
                <a:ea typeface="Cambria" pitchFamily="34" charset="-122"/>
                <a:cs typeface="Cambria" pitchFamily="34" charset="-120"/>
              </a:rPr>
              <a:t>Plan</a:t>
            </a:r>
            <a:endParaRPr lang="en-US" sz="3000" dirty="0"/>
          </a:p>
        </p:txBody>
      </p:sp>
      <p:sp>
        <p:nvSpPr>
          <p:cNvPr id="3" name="Shape 1"/>
          <p:cNvSpPr/>
          <p:nvPr/>
        </p:nvSpPr>
        <p:spPr>
          <a:xfrm>
            <a:off x="457200" y="1188720"/>
            <a:ext cx="548640" cy="548640"/>
          </a:xfrm>
          <a:prstGeom prst="ellipse">
            <a:avLst/>
          </a:prstGeom>
          <a:solidFill>
            <a:srgbClr val="2A9D8F"/>
          </a:solidFill>
          <a:ln w="12700">
            <a:solidFill>
              <a:srgbClr val="2A9D8F"/>
            </a:solidFill>
            <a:prstDash val="solid"/>
          </a:ln>
        </p:spPr>
      </p:sp>
      <p:sp>
        <p:nvSpPr>
          <p:cNvPr id="4" name="Text 2"/>
          <p:cNvSpPr txBox="1"/>
          <p:nvPr/>
        </p:nvSpPr>
        <p:spPr>
          <a:xfrm>
            <a:off x="457200" y="1188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188720" y="1188720"/>
            <a:ext cx="1097280" cy="548640"/>
          </a:xfrm>
          <a:prstGeom prst="rect">
            <a:avLst/>
          </a:prstGeom>
          <a:noFill/>
          <a:ln/>
        </p:spPr>
        <p:txBody>
          <a:bodyPr wrap="square" lIns="0" tIns="0" rIns="0" bIns="0" rtlCol="0" anchor="ctr"/>
          <a:lstStyle/>
          <a:p>
            <a:pPr indent="0" marL="0">
              <a:buNone/>
            </a:pPr>
            <a:r>
              <a:rPr lang="en-US" sz="1800" b="1" dirty="0">
                <a:solidFill>
                  <a:srgbClr val="0E1A2B"/>
                </a:solidFill>
                <a:latin typeface="Cambria" pitchFamily="34" charset="0"/>
                <a:ea typeface="Cambria" pitchFamily="34" charset="-122"/>
                <a:cs typeface="Cambria" pitchFamily="34" charset="-120"/>
              </a:rPr>
              <a:t>Done</a:t>
            </a:r>
            <a:endParaRPr lang="en-US" sz="1800" dirty="0"/>
          </a:p>
        </p:txBody>
      </p:sp>
      <p:sp>
        <p:nvSpPr>
          <p:cNvPr id="6" name="Text 4"/>
          <p:cNvSpPr txBox="1"/>
          <p:nvPr/>
        </p:nvSpPr>
        <p:spPr>
          <a:xfrm>
            <a:off x="2286000" y="1188720"/>
            <a:ext cx="640080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Software-only feasibility on laptop iGPU: method works, API gap found</a:t>
            </a:r>
            <a:endParaRPr lang="en-US" sz="1500" dirty="0"/>
          </a:p>
        </p:txBody>
      </p:sp>
      <p:sp>
        <p:nvSpPr>
          <p:cNvPr id="7" name="Shape 5"/>
          <p:cNvSpPr/>
          <p:nvPr/>
        </p:nvSpPr>
        <p:spPr>
          <a:xfrm>
            <a:off x="457200" y="2011680"/>
            <a:ext cx="548640" cy="548640"/>
          </a:xfrm>
          <a:prstGeom prst="ellipse">
            <a:avLst/>
          </a:prstGeom>
          <a:solidFill>
            <a:srgbClr val="F2A93B"/>
          </a:solidFill>
          <a:ln w="12700">
            <a:solidFill>
              <a:srgbClr val="F2A93B"/>
            </a:solidFill>
            <a:prstDash val="solid"/>
          </a:ln>
        </p:spPr>
      </p:sp>
      <p:sp>
        <p:nvSpPr>
          <p:cNvPr id="8" name="Text 6"/>
          <p:cNvSpPr txBox="1"/>
          <p:nvPr/>
        </p:nvSpPr>
        <p:spPr>
          <a:xfrm>
            <a:off x="457200" y="2011680"/>
            <a:ext cx="548640" cy="548640"/>
          </a:xfrm>
          <a:prstGeom prst="rect">
            <a:avLst/>
          </a:prstGeom>
          <a:noFill/>
          <a:ln/>
        </p:spPr>
        <p:txBody>
          <a:bodyPr wrap="square" lIns="0" tIns="0" rIns="0" bIns="0" rtlCol="0" anchor="ctr"/>
          <a:lstStyle/>
          <a:p>
            <a:pPr algn="ctr" indent="0" marL="0">
              <a:buNone/>
            </a:pPr>
            <a:r>
              <a:rPr lang="en-US" sz="1800" b="1" dirty="0">
                <a:solidFill>
                  <a:srgbClr val="0E1A2B"/>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188720" y="2011680"/>
            <a:ext cx="1097280" cy="548640"/>
          </a:xfrm>
          <a:prstGeom prst="rect">
            <a:avLst/>
          </a:prstGeom>
          <a:noFill/>
          <a:ln/>
        </p:spPr>
        <p:txBody>
          <a:bodyPr wrap="square" lIns="0" tIns="0" rIns="0" bIns="0" rtlCol="0" anchor="ctr"/>
          <a:lstStyle/>
          <a:p>
            <a:pPr indent="0" marL="0">
              <a:buNone/>
            </a:pPr>
            <a:r>
              <a:rPr lang="en-US" sz="1800" b="1" dirty="0">
                <a:solidFill>
                  <a:srgbClr val="0E1A2B"/>
                </a:solidFill>
                <a:latin typeface="Cambria" pitchFamily="34" charset="0"/>
                <a:ea typeface="Cambria" pitchFamily="34" charset="-122"/>
                <a:cs typeface="Cambria" pitchFamily="34" charset="-120"/>
              </a:rPr>
              <a:t>Next</a:t>
            </a:r>
            <a:endParaRPr lang="en-US" sz="1800" dirty="0"/>
          </a:p>
        </p:txBody>
      </p:sp>
      <p:sp>
        <p:nvSpPr>
          <p:cNvPr id="10" name="Text 8"/>
          <p:cNvSpPr txBox="1"/>
          <p:nvPr/>
        </p:nvSpPr>
        <p:spPr>
          <a:xfrm>
            <a:off x="2286000" y="2011680"/>
            <a:ext cx="640080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Port ping-pong to CUDA on a rented RTX; compare with CUPTI's own correlation</a:t>
            </a:r>
            <a:endParaRPr lang="en-US" sz="1500" dirty="0"/>
          </a:p>
        </p:txBody>
      </p:sp>
      <p:sp>
        <p:nvSpPr>
          <p:cNvPr id="11" name="Shape 9"/>
          <p:cNvSpPr/>
          <p:nvPr/>
        </p:nvSpPr>
        <p:spPr>
          <a:xfrm>
            <a:off x="457200" y="2834640"/>
            <a:ext cx="548640" cy="548640"/>
          </a:xfrm>
          <a:prstGeom prst="ellipse">
            <a:avLst/>
          </a:prstGeom>
          <a:solidFill>
            <a:srgbClr val="F2A93B"/>
          </a:solidFill>
          <a:ln w="12700">
            <a:solidFill>
              <a:srgbClr val="F2A93B"/>
            </a:solidFill>
            <a:prstDash val="solid"/>
          </a:ln>
        </p:spPr>
      </p:sp>
      <p:sp>
        <p:nvSpPr>
          <p:cNvPr id="12" name="Text 10"/>
          <p:cNvSpPr txBox="1"/>
          <p:nvPr/>
        </p:nvSpPr>
        <p:spPr>
          <a:xfrm>
            <a:off x="457200" y="2834640"/>
            <a:ext cx="548640" cy="548640"/>
          </a:xfrm>
          <a:prstGeom prst="rect">
            <a:avLst/>
          </a:prstGeom>
          <a:noFill/>
          <a:ln/>
        </p:spPr>
        <p:txBody>
          <a:bodyPr wrap="square" lIns="0" tIns="0" rIns="0" bIns="0" rtlCol="0" anchor="ctr"/>
          <a:lstStyle/>
          <a:p>
            <a:pPr algn="ctr" indent="0" marL="0">
              <a:buNone/>
            </a:pPr>
            <a:r>
              <a:rPr lang="en-US" sz="1800" b="1" dirty="0">
                <a:solidFill>
                  <a:srgbClr val="0E1A2B"/>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188720" y="2834640"/>
            <a:ext cx="1097280" cy="548640"/>
          </a:xfrm>
          <a:prstGeom prst="rect">
            <a:avLst/>
          </a:prstGeom>
          <a:noFill/>
          <a:ln/>
        </p:spPr>
        <p:txBody>
          <a:bodyPr wrap="square" lIns="0" tIns="0" rIns="0" bIns="0" rtlCol="0" anchor="ctr"/>
          <a:lstStyle/>
          <a:p>
            <a:pPr indent="0" marL="0">
              <a:buNone/>
            </a:pPr>
            <a:r>
              <a:rPr lang="en-US" sz="1800" b="1" dirty="0">
                <a:solidFill>
                  <a:srgbClr val="0E1A2B"/>
                </a:solidFill>
                <a:latin typeface="Cambria" pitchFamily="34" charset="0"/>
                <a:ea typeface="Cambria" pitchFamily="34" charset="-122"/>
                <a:cs typeface="Cambria" pitchFamily="34" charset="-120"/>
              </a:rPr>
              <a:t>Build</a:t>
            </a:r>
            <a:endParaRPr lang="en-US" sz="1800" dirty="0"/>
          </a:p>
        </p:txBody>
      </p:sp>
      <p:sp>
        <p:nvSpPr>
          <p:cNvPr id="14" name="Text 12"/>
          <p:cNvSpPr txBox="1"/>
          <p:nvPr/>
        </p:nvSpPr>
        <p:spPr>
          <a:xfrm>
            <a:off x="2286000" y="2834640"/>
            <a:ext cx="640080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OCXO + GPS PPS board in KiCad, fab; FPGA counter + DMA (LitePCIe)</a:t>
            </a:r>
            <a:endParaRPr lang="en-US" sz="1500" dirty="0"/>
          </a:p>
        </p:txBody>
      </p:sp>
      <p:sp>
        <p:nvSpPr>
          <p:cNvPr id="15" name="Shape 13"/>
          <p:cNvSpPr/>
          <p:nvPr/>
        </p:nvSpPr>
        <p:spPr>
          <a:xfrm>
            <a:off x="457200" y="3657600"/>
            <a:ext cx="548640" cy="548640"/>
          </a:xfrm>
          <a:prstGeom prst="ellipse">
            <a:avLst/>
          </a:prstGeom>
          <a:solidFill>
            <a:srgbClr val="F2A93B"/>
          </a:solidFill>
          <a:ln w="12700">
            <a:solidFill>
              <a:srgbClr val="F2A93B"/>
            </a:solidFill>
            <a:prstDash val="solid"/>
          </a:ln>
        </p:spPr>
      </p:sp>
      <p:sp>
        <p:nvSpPr>
          <p:cNvPr id="16" name="Text 14"/>
          <p:cNvSpPr txBox="1"/>
          <p:nvPr/>
        </p:nvSpPr>
        <p:spPr>
          <a:xfrm>
            <a:off x="457200" y="3657600"/>
            <a:ext cx="548640" cy="548640"/>
          </a:xfrm>
          <a:prstGeom prst="rect">
            <a:avLst/>
          </a:prstGeom>
          <a:noFill/>
          <a:ln/>
        </p:spPr>
        <p:txBody>
          <a:bodyPr wrap="square" lIns="0" tIns="0" rIns="0" bIns="0" rtlCol="0" anchor="ctr"/>
          <a:lstStyle/>
          <a:p>
            <a:pPr algn="ctr" indent="0" marL="0">
              <a:buNone/>
            </a:pPr>
            <a:r>
              <a:rPr lang="en-US" sz="1800" b="1" dirty="0">
                <a:solidFill>
                  <a:srgbClr val="0E1A2B"/>
                </a:solidFill>
                <a:latin typeface="Cambria" pitchFamily="34" charset="0"/>
                <a:ea typeface="Cambria" pitchFamily="34" charset="-122"/>
                <a:cs typeface="Cambria" pitchFamily="34" charset="-120"/>
              </a:rPr>
              <a:t>4</a:t>
            </a:r>
            <a:endParaRPr lang="en-US" sz="1800" dirty="0"/>
          </a:p>
        </p:txBody>
      </p:sp>
      <p:sp>
        <p:nvSpPr>
          <p:cNvPr id="17" name="Text 15"/>
          <p:cNvSpPr txBox="1"/>
          <p:nvPr/>
        </p:nvSpPr>
        <p:spPr>
          <a:xfrm>
            <a:off x="1188720" y="3657600"/>
            <a:ext cx="1097280" cy="548640"/>
          </a:xfrm>
          <a:prstGeom prst="rect">
            <a:avLst/>
          </a:prstGeom>
          <a:noFill/>
          <a:ln/>
        </p:spPr>
        <p:txBody>
          <a:bodyPr wrap="square" lIns="0" tIns="0" rIns="0" bIns="0" rtlCol="0" anchor="ctr"/>
          <a:lstStyle/>
          <a:p>
            <a:pPr indent="0" marL="0">
              <a:buNone/>
            </a:pPr>
            <a:r>
              <a:rPr lang="en-US" sz="1800" b="1" dirty="0">
                <a:solidFill>
                  <a:srgbClr val="0E1A2B"/>
                </a:solidFill>
                <a:latin typeface="Cambria" pitchFamily="34" charset="0"/>
                <a:ea typeface="Cambria" pitchFamily="34" charset="-122"/>
                <a:cs typeface="Cambria" pitchFamily="34" charset="-120"/>
              </a:rPr>
              <a:t>Test</a:t>
            </a:r>
            <a:endParaRPr lang="en-US" sz="1800" dirty="0"/>
          </a:p>
        </p:txBody>
      </p:sp>
      <p:sp>
        <p:nvSpPr>
          <p:cNvPr id="18" name="Text 16"/>
          <p:cNvSpPr txBox="1"/>
          <p:nvPr/>
        </p:nvSpPr>
        <p:spPr>
          <a:xfrm>
            <a:off x="2286000" y="3657600"/>
            <a:ext cx="6400800" cy="54864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Idle / load / heat / reference loss; software vs hardware reference vs drift model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this does and doesn't show</a:t>
            </a:r>
            <a:endParaRPr lang="en-US" sz="3000" dirty="0"/>
          </a:p>
        </p:txBody>
      </p:sp>
      <p:sp>
        <p:nvSpPr>
          <p:cNvPr id="3" name="Text 1"/>
          <p:cNvSpPr txBox="1"/>
          <p:nvPr/>
        </p:nvSpPr>
        <p:spPr>
          <a:xfrm>
            <a:off x="457200" y="1143000"/>
            <a:ext cx="822960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9D6EA"/>
                </a:solidFill>
                <a:latin typeface="Calibri" pitchFamily="34" charset="0"/>
                <a:ea typeface="Calibri" pitchFamily="34" charset="-122"/>
                <a:cs typeface="Calibri" pitchFamily="34" charset="-120"/>
              </a:rPr>
              <a:t>One laptop, AMD iGPU sharing a clock source with the CPU, on battery. An NVIDIA card over PCIe has its own crystal and will drift.</a:t>
            </a:r>
            <a:endParaRPr lang="en-US" sz="1500" dirty="0"/>
          </a:p>
          <a:p>
            <a:pPr marL="342900" indent="-342900">
              <a:spcAft>
                <a:spcPts val="800"/>
              </a:spcAft>
              <a:buSzPct val="100000"/>
              <a:buChar char="•"/>
            </a:pPr>
            <a:r>
              <a:rPr lang="en-US" sz="1500" dirty="0">
                <a:solidFill>
                  <a:srgbClr val="C9D6EA"/>
                </a:solidFill>
                <a:latin typeface="Calibri" pitchFamily="34" charset="0"/>
                <a:ea typeface="Calibri" pitchFamily="34" charset="-122"/>
                <a:cs typeface="Calibri" pitchFamily="34" charset="-120"/>
              </a:rPr>
              <a:t>Bracket midpoints assume symmetric delays; any asymmetry is a hidden constant offset.</a:t>
            </a:r>
            <a:endParaRPr lang="en-US" sz="1500" dirty="0"/>
          </a:p>
          <a:p>
            <a:pPr marL="342900" indent="-342900">
              <a:spcAft>
                <a:spcPts val="800"/>
              </a:spcAft>
              <a:buSzPct val="100000"/>
              <a:buChar char="•"/>
            </a:pPr>
            <a:r>
              <a:rPr lang="en-US" sz="1500" dirty="0">
                <a:solidFill>
                  <a:srgbClr val="C9D6EA"/>
                </a:solidFill>
                <a:latin typeface="Calibri" pitchFamily="34" charset="0"/>
                <a:ea typeface="Calibri" pitchFamily="34" charset="-122"/>
                <a:cs typeface="Calibri" pitchFamily="34" charset="-120"/>
              </a:rPr>
              <a:t>Rate stability is relative: shared drift of both clocks is invisible without an external reference.</a:t>
            </a:r>
            <a:endParaRPr lang="en-US" sz="1500" dirty="0"/>
          </a:p>
          <a:p>
            <a:pPr marL="342900" indent="-342900">
              <a:spcAft>
                <a:spcPts val="800"/>
              </a:spcAft>
              <a:buSzPct val="100000"/>
              <a:buChar char="•"/>
            </a:pPr>
            <a:r>
              <a:rPr lang="en-US" sz="1500" dirty="0">
                <a:solidFill>
                  <a:srgbClr val="C9D6EA"/>
                </a:solidFill>
                <a:latin typeface="Calibri" pitchFamily="34" charset="0"/>
                <a:ea typeface="Calibri" pitchFamily="34" charset="-122"/>
                <a:cs typeface="Calibri" pitchFamily="34" charset="-120"/>
              </a:rPr>
              <a:t>About 10 minutes of data; thermal and ageing effects need hours.</a:t>
            </a:r>
            <a:endParaRPr lang="en-US" sz="1500" dirty="0"/>
          </a:p>
        </p:txBody>
      </p:sp>
      <p:sp>
        <p:nvSpPr>
          <p:cNvPr id="4" name="Shape 2"/>
          <p:cNvSpPr/>
          <p:nvPr/>
        </p:nvSpPr>
        <p:spPr>
          <a:xfrm>
            <a:off x="457200" y="3383280"/>
            <a:ext cx="8229600" cy="1097280"/>
          </a:xfrm>
          <a:prstGeom prst="roundRect">
            <a:avLst>
              <a:gd name="adj" fmla="val 6667"/>
            </a:avLst>
          </a:prstGeom>
          <a:solidFill>
            <a:srgbClr val="1B2B44"/>
          </a:solidFill>
          <a:ln w="12700">
            <a:solidFill>
              <a:srgbClr val="1B2B44"/>
            </a:solidFill>
            <a:prstDash val="solid"/>
          </a:ln>
        </p:spPr>
      </p:sp>
      <p:sp>
        <p:nvSpPr>
          <p:cNvPr id="5" name="Text 3"/>
          <p:cNvSpPr txBox="1"/>
          <p:nvPr/>
        </p:nvSpPr>
        <p:spPr>
          <a:xfrm>
            <a:off x="731520" y="3474720"/>
            <a:ext cx="7680960" cy="914400"/>
          </a:xfrm>
          <a:prstGeom prst="rect">
            <a:avLst/>
          </a:prstGeom>
          <a:noFill/>
          <a:ln/>
        </p:spPr>
        <p:txBody>
          <a:bodyPr wrap="square" lIns="0" tIns="0" rIns="0" bIns="0" rtlCol="0" anchor="ctr"/>
          <a:lstStyle/>
          <a:p>
            <a:pPr indent="0" marL="0">
              <a:buNone/>
            </a:pPr>
            <a:r>
              <a:rPr lang="en-US" sz="1600" b="1" dirty="0">
                <a:solidFill>
                  <a:srgbClr val="F2A93B"/>
                </a:solidFill>
                <a:latin typeface="Calibri" pitchFamily="34" charset="0"/>
                <a:ea typeface="Calibri" pitchFamily="34" charset="-122"/>
                <a:cs typeface="Calibri" pitchFamily="34" charset="-120"/>
              </a:rPr>
              <a:t>Takeaway: </a:t>
            </a:r>
            <a:pPr indent="0" marL="0">
              <a:buNone/>
            </a:pPr>
            <a:r>
              <a:rPr lang="en-US" sz="1600" dirty="0">
                <a:solidFill>
                  <a:srgbClr val="FFFFFF"/>
                </a:solidFill>
                <a:latin typeface="Calibri" pitchFamily="34" charset="0"/>
                <a:ea typeface="Calibri" pitchFamily="34" charset="-122"/>
                <a:cs typeface="Calibri" pitchFamily="34" charset="-120"/>
              </a:rPr>
              <a:t>software alone gets a GPU clock read to ~1.16 µs at best and tens of µs typically, and can't tell which clock is right. A hardware time reference is the missing piece, so it's the thesis.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the GPU know what time it is?</dc:title>
  <dc:subject>PptxGenJS Presentation</dc:subject>
  <dc:creator>PptxGenJS</dc:creator>
  <cp:lastModifiedBy>PptxGenJS</cp:lastModifiedBy>
  <cp:revision>1</cp:revision>
  <dcterms:created xsi:type="dcterms:W3CDTF">2026-09-28T20:46:03Z</dcterms:created>
  <dcterms:modified xsi:type="dcterms:W3CDTF">2026-09-28T20:46:03Z</dcterms:modified>
</cp:coreProperties>
</file>